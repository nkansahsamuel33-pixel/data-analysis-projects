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6" r:id="rId6"/>
    <p:sldId id="260" r:id="rId7"/>
    <p:sldId id="268" r:id="rId8"/>
    <p:sldId id="269" r:id="rId9"/>
    <p:sldId id="262"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447"/>
    <a:srgbClr val="FFFFFF"/>
    <a:srgbClr val="000000"/>
    <a:srgbClr val="243152"/>
    <a:srgbClr val="2E6E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58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62447"/>
                </a:solidFill>
                <a:latin typeface="Calibri"/>
              </a:defRPr>
            </a:pPr>
            <a:r>
              <a:rPr lang="en-GB" sz="1250" b="0" i="0" u="none" strike="noStrike">
                <a:solidFill>
                  <a:srgbClr val="162447"/>
                </a:solidFill>
                <a:latin typeface="Calibri"/>
              </a:rPr>
              <a:t>Contract Type Churn Breakdown</a:t>
            </a:r>
          </a:p>
        </c:rich>
      </c:tx>
      <c:overlay val="0"/>
    </c:title>
    <c:autoTitleDeleted val="0"/>
    <c:plotArea>
      <c:layout/>
      <c:barChart>
        <c:barDir val="bar"/>
        <c:grouping val="clustered"/>
        <c:varyColors val="0"/>
        <c:ser>
          <c:idx val="0"/>
          <c:order val="0"/>
          <c:tx>
            <c:strRef>
              <c:f>Sheet1!$B$1</c:f>
              <c:strCache>
                <c:ptCount val="1"/>
                <c:pt idx="0">
                  <c:v>% of Churned Customers</c:v>
                </c:pt>
              </c:strCache>
            </c:strRef>
          </c:tx>
          <c:spPr>
            <a:solidFill>
              <a:schemeClr val="accent1">
                <a:lumMod val="75000"/>
              </a:schemeClr>
            </a:solidFill>
            <a:effectLst/>
          </c:spPr>
          <c:invertIfNegative val="0"/>
          <c:dLbls>
            <c:dLbl>
              <c:idx val="0"/>
              <c:tx>
                <c:rich>
                  <a:bodyPr/>
                  <a:lstStyle/>
                  <a:p>
                    <a:r>
                      <a:rPr lang="en-US" sz="1200"/>
                      <a:t>4</a:t>
                    </a:r>
                    <a:r>
                      <a:rPr lang="en-US"/>
                      <a:t>8</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E63-4C53-9739-FF52BF8D0623}"/>
                </c:ext>
              </c:extLst>
            </c:dLbl>
            <c:dLbl>
              <c:idx val="1"/>
              <c:tx>
                <c:rich>
                  <a:bodyPr/>
                  <a:lstStyle/>
                  <a:p>
                    <a:r>
                      <a:rPr lang="en-US" sz="1200"/>
                      <a:t>166</a:t>
                    </a:r>
                    <a:endParaRPr lang="en-US" sz="1200"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E63-4C53-9739-FF52BF8D0623}"/>
                </c:ext>
              </c:extLst>
            </c:dLbl>
            <c:dLbl>
              <c:idx val="2"/>
              <c:tx>
                <c:rich>
                  <a:bodyPr/>
                  <a:lstStyle/>
                  <a:p>
                    <a:r>
                      <a:rPr lang="en-US" sz="1200"/>
                      <a:t>1655</a:t>
                    </a:r>
                    <a:endParaRPr lang="en-US" sz="1200"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E63-4C53-9739-FF52BF8D0623}"/>
                </c:ext>
              </c:extLst>
            </c:dLbl>
            <c:numFmt formatCode="0.0&quot;%&quot;" sourceLinked="0"/>
            <c:spPr>
              <a:noFill/>
              <a:ln>
                <a:noFill/>
              </a:ln>
              <a:effectLst/>
            </c:spPr>
            <c:txPr>
              <a:bodyPr/>
              <a:lstStyle/>
              <a:p>
                <a:pPr>
                  <a:defRPr sz="1000" b="0" i="0" u="none" strike="noStrike">
                    <a:solidFill>
                      <a:srgbClr val="1B24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Two Year</c:v>
                </c:pt>
                <c:pt idx="1">
                  <c:v>One Year</c:v>
                </c:pt>
                <c:pt idx="2">
                  <c:v>Month-to-Month</c:v>
                </c:pt>
              </c:strCache>
            </c:strRef>
          </c:cat>
          <c:val>
            <c:numRef>
              <c:f>Sheet1!$B$2:$B$4</c:f>
              <c:numCache>
                <c:formatCode>General</c:formatCode>
                <c:ptCount val="3"/>
                <c:pt idx="0">
                  <c:v>2.57</c:v>
                </c:pt>
                <c:pt idx="1">
                  <c:v>8.8800000000000008</c:v>
                </c:pt>
                <c:pt idx="2">
                  <c:v>88.55</c:v>
                </c:pt>
              </c:numCache>
            </c:numRef>
          </c:val>
          <c:extLst>
            <c:ext xmlns:c16="http://schemas.microsoft.com/office/drawing/2014/chart" uri="{C3380CC4-5D6E-409C-BE32-E72D297353CC}">
              <c16:uniqueId val="{00000000-CE63-4C53-9739-FF52BF8D062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E"/>
              </a:solidFill>
              <a:prstDash val="solid"/>
              <a:round/>
            </a:ln>
          </c:spPr>
        </c:majorGridlines>
        <c:numFmt formatCode="0&quot;%&quot;" sourceLinked="0"/>
        <c:majorTickMark val="out"/>
        <c:minorTickMark val="none"/>
        <c:tickLblPos val="low"/>
        <c:crossAx val="2094734554"/>
        <c:crosses val="autoZero"/>
        <c:crossBetween val="between"/>
      </c:valAx>
      <c:spPr>
        <a:noFill/>
        <a:ln w="25400">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62447"/>
                </a:solidFill>
                <a:latin typeface="Calibri"/>
              </a:defRPr>
            </a:pPr>
            <a:r>
              <a:rPr lang="en-GB" sz="1250" b="0" i="0" u="none" strike="noStrike">
                <a:solidFill>
                  <a:srgbClr val="162447"/>
                </a:solidFill>
                <a:latin typeface="Calibri"/>
              </a:rPr>
              <a:t>Payment Method Churn Breakdown</a:t>
            </a:r>
          </a:p>
        </c:rich>
      </c:tx>
      <c:overlay val="0"/>
    </c:title>
    <c:autoTitleDeleted val="0"/>
    <c:plotArea>
      <c:layout/>
      <c:barChart>
        <c:barDir val="bar"/>
        <c:grouping val="clustered"/>
        <c:varyColors val="0"/>
        <c:ser>
          <c:idx val="0"/>
          <c:order val="0"/>
          <c:tx>
            <c:strRef>
              <c:f>Sheet1!$B$1</c:f>
              <c:strCache>
                <c:ptCount val="1"/>
                <c:pt idx="0">
                  <c:v>% of Churned Customers</c:v>
                </c:pt>
              </c:strCache>
            </c:strRef>
          </c:tx>
          <c:spPr>
            <a:solidFill>
              <a:schemeClr val="accent1">
                <a:lumMod val="75000"/>
              </a:schemeClr>
            </a:solidFill>
            <a:effectLst/>
          </c:spPr>
          <c:invertIfNegative val="0"/>
          <c:dLbls>
            <c:numFmt formatCode="0.0&quot;%&quot;" sourceLinked="0"/>
            <c:spPr>
              <a:noFill/>
              <a:ln>
                <a:noFill/>
              </a:ln>
              <a:effectLst/>
            </c:spPr>
            <c:txPr>
              <a:bodyPr/>
              <a:lstStyle/>
              <a:p>
                <a:pPr>
                  <a:defRPr sz="1000" b="0" i="0" u="none" strike="noStrike">
                    <a:solidFill>
                      <a:srgbClr val="1B24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Credit Card</c:v>
                </c:pt>
                <c:pt idx="1">
                  <c:v>Bank Transfer</c:v>
                </c:pt>
                <c:pt idx="2">
                  <c:v>Mailed Check</c:v>
                </c:pt>
                <c:pt idx="3">
                  <c:v>Electronic Check</c:v>
                </c:pt>
              </c:strCache>
            </c:strRef>
          </c:cat>
          <c:val>
            <c:numRef>
              <c:f>Sheet1!$B$2:$B$5</c:f>
              <c:numCache>
                <c:formatCode>General</c:formatCode>
                <c:ptCount val="4"/>
                <c:pt idx="0">
                  <c:v>12.41</c:v>
                </c:pt>
                <c:pt idx="1">
                  <c:v>13.8</c:v>
                </c:pt>
                <c:pt idx="2">
                  <c:v>16.48</c:v>
                </c:pt>
                <c:pt idx="3">
                  <c:v>57.3</c:v>
                </c:pt>
              </c:numCache>
            </c:numRef>
          </c:val>
          <c:extLst>
            <c:ext xmlns:c16="http://schemas.microsoft.com/office/drawing/2014/chart" uri="{C3380CC4-5D6E-409C-BE32-E72D297353CC}">
              <c16:uniqueId val="{00000000-844F-4892-AEDB-6F64999430C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E"/>
              </a:solidFill>
              <a:prstDash val="solid"/>
              <a:round/>
            </a:ln>
          </c:spPr>
        </c:majorGridlines>
        <c:numFmt formatCode="0&quot;%&quot;"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2447"/>
                </a:solidFill>
                <a:latin typeface="Calibri"/>
              </a:defRPr>
            </a:pPr>
            <a:r>
              <a:rPr lang="en-GB" sz="1300" b="0" i="0" u="none" strike="noStrike">
                <a:solidFill>
                  <a:srgbClr val="162447"/>
                </a:solidFill>
                <a:latin typeface="Calibri"/>
              </a:rPr>
              <a:t>Churn Reasons by Category</a:t>
            </a:r>
          </a:p>
        </c:rich>
      </c:tx>
      <c:overlay val="0"/>
    </c:title>
    <c:autoTitleDeleted val="0"/>
    <c:plotArea>
      <c:layout/>
      <c:barChart>
        <c:barDir val="bar"/>
        <c:grouping val="clustered"/>
        <c:varyColors val="0"/>
        <c:ser>
          <c:idx val="0"/>
          <c:order val="0"/>
          <c:tx>
            <c:strRef>
              <c:f>Sheet1!$B$1</c:f>
              <c:strCache>
                <c:ptCount val="1"/>
                <c:pt idx="0">
                  <c:v>Share of Churned Customers</c:v>
                </c:pt>
              </c:strCache>
            </c:strRef>
          </c:tx>
          <c:spPr>
            <a:solidFill>
              <a:schemeClr val="accent1">
                <a:lumMod val="75000"/>
              </a:schemeClr>
            </a:solidFill>
            <a:effectLst/>
          </c:spPr>
          <c:invertIfNegative val="0"/>
          <c:dLbls>
            <c:dLbl>
              <c:idx val="0"/>
              <c:layout>
                <c:manualLayout>
                  <c:x val="-9.1520916409108755E-2"/>
                  <c:y val="-2.7375203023774393E-3"/>
                </c:manualLayout>
              </c:layout>
              <c:tx>
                <c:rich>
                  <a:bodyPr/>
                  <a:lstStyle/>
                  <a:p>
                    <a:fld id="{DDCA3E77-F2E3-4BAD-8204-19BFF7DBD64B}" type="VALUE">
                      <a:rPr lang="en-US" sz="1300">
                        <a:solidFill>
                          <a:schemeClr val="bg1"/>
                        </a:solidFill>
                      </a:rPr>
                      <a:pPr/>
                      <a:t>[VALUE]</a:t>
                    </a:fld>
                    <a:endParaRPr lang="en-GB"/>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C389-4AFC-9238-CCE63429980D}"/>
                </c:ext>
              </c:extLst>
            </c:dLbl>
            <c:dLbl>
              <c:idx val="1"/>
              <c:layout>
                <c:manualLayout>
                  <c:x val="-0.10680563008656696"/>
                  <c:y val="9.6500823950500456E-3"/>
                </c:manualLayout>
              </c:layout>
              <c:tx>
                <c:rich>
                  <a:bodyPr/>
                  <a:lstStyle/>
                  <a:p>
                    <a:fld id="{9F6E20B7-2FC6-43C7-A711-FD9F33245372}" type="VALUE">
                      <a:rPr lang="en-US" sz="1300">
                        <a:solidFill>
                          <a:srgbClr val="FFFFFF"/>
                        </a:solidFill>
                      </a:rPr>
                      <a:pPr/>
                      <a:t>[VALUE]</a:t>
                    </a:fld>
                    <a:endParaRPr lang="en-GB"/>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389-4AFC-9238-CCE63429980D}"/>
                </c:ext>
              </c:extLst>
            </c:dLbl>
            <c:dLbl>
              <c:idx val="2"/>
              <c:layout>
                <c:manualLayout>
                  <c:x val="-0.10429127683828668"/>
                  <c:y val="-5.0187292442368111E-17"/>
                </c:manualLayout>
              </c:layout>
              <c:tx>
                <c:rich>
                  <a:bodyPr/>
                  <a:lstStyle/>
                  <a:p>
                    <a:fld id="{761033CC-DAC8-4F76-9F9D-DB68B559879B}" type="VALUE">
                      <a:rPr lang="en-US" sz="1300" smtClean="0">
                        <a:solidFill>
                          <a:schemeClr val="bg1"/>
                        </a:solidFill>
                      </a:rPr>
                      <a:pPr/>
                      <a:t>[VALUE]</a:t>
                    </a:fld>
                    <a:endParaRPr lang="en-GB"/>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389-4AFC-9238-CCE63429980D}"/>
                </c:ext>
              </c:extLst>
            </c:dLbl>
            <c:dLbl>
              <c:idx val="3"/>
              <c:layout>
                <c:manualLayout>
                  <c:x val="-8.7264129599382886E-2"/>
                  <c:y val="5.4750406047548534E-3"/>
                </c:manualLayout>
              </c:layout>
              <c:tx>
                <c:rich>
                  <a:bodyPr/>
                  <a:lstStyle/>
                  <a:p>
                    <a:fld id="{C5E7E9BE-182D-4D16-BF8F-2DF6DF7EC4B6}" type="VALUE">
                      <a:rPr lang="en-US" sz="1400">
                        <a:solidFill>
                          <a:schemeClr val="bg1"/>
                        </a:solidFill>
                      </a:rPr>
                      <a:pPr/>
                      <a:t>[VALUE]</a:t>
                    </a:fld>
                    <a:endParaRPr lang="en-GB"/>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389-4AFC-9238-CCE63429980D}"/>
                </c:ext>
              </c:extLst>
            </c:dLbl>
            <c:numFmt formatCode="0.0&quot;%&quot;" sourceLinked="0"/>
            <c:spPr>
              <a:noFill/>
              <a:ln>
                <a:noFill/>
              </a:ln>
              <a:effectLst/>
            </c:spPr>
            <c:txPr>
              <a:bodyPr/>
              <a:lstStyle/>
              <a:p>
                <a:pPr>
                  <a:defRPr sz="1100" b="0" i="0" u="none" strike="noStrike">
                    <a:solidFill>
                      <a:srgbClr val="1B24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Price/Value</c:v>
                </c:pt>
                <c:pt idx="1">
                  <c:v>Other</c:v>
                </c:pt>
                <c:pt idx="2">
                  <c:v>Competitor-driven</c:v>
                </c:pt>
                <c:pt idx="3">
                  <c:v>Service/Support quality</c:v>
                </c:pt>
              </c:strCache>
            </c:strRef>
          </c:cat>
          <c:val>
            <c:numRef>
              <c:f>Sheet1!$B$2:$B$5</c:f>
              <c:numCache>
                <c:formatCode>General</c:formatCode>
                <c:ptCount val="4"/>
                <c:pt idx="0">
                  <c:v>8.3000000000000007</c:v>
                </c:pt>
                <c:pt idx="1">
                  <c:v>13.4</c:v>
                </c:pt>
                <c:pt idx="2">
                  <c:v>33.200000000000003</c:v>
                </c:pt>
                <c:pt idx="3">
                  <c:v>37.9</c:v>
                </c:pt>
              </c:numCache>
            </c:numRef>
          </c:val>
          <c:extLst>
            <c:ext xmlns:c16="http://schemas.microsoft.com/office/drawing/2014/chart" uri="{C3380CC4-5D6E-409C-BE32-E72D297353CC}">
              <c16:uniqueId val="{00000000-C389-4AFC-9238-CCE63429980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E"/>
              </a:solidFill>
              <a:prstDash val="solid"/>
              <a:round/>
            </a:ln>
          </c:spPr>
        </c:majorGridlines>
        <c:numFmt formatCode="0&quot;%&quot;"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7148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DA470-EB27-90D6-18C5-14032B1C2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39ABB-08C3-F95F-E695-43036E76D38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64309E0-4575-1AEF-5F4C-6CC8FA211F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07570D-B075-531C-C2A2-E9FDCA8D7660}"/>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320272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7CF88-62F1-782E-3B11-8B1B3411A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8E68A3-11AF-2838-1793-EEE26429BF5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A57E8A0-AE8D-2F0C-2294-FB52C0430C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57B32D-EA5D-73E2-3088-F5452BE8300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79185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7B932-18B4-DB80-AFE2-045CAD3E6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66473-3CAF-637A-E785-C5F727245CC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5C0728E-A127-B7C7-04D2-4140C0075C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B13738-5310-E70C-7DB9-62147F4D470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50050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47"/>
        </a:solidFill>
        <a:effectLst/>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2E6E86">
              <a:alpha val="30000"/>
            </a:srgbClr>
          </a:solidFill>
          <a:ln/>
        </p:spPr>
        <p:txBody>
          <a:bodyPr/>
          <a:lstStyle/>
          <a:p>
            <a:endParaRPr lang="en-GB"/>
          </a:p>
        </p:txBody>
      </p:sp>
      <p:sp>
        <p:nvSpPr>
          <p:cNvPr id="3" name="Shape 1"/>
          <p:cNvSpPr/>
          <p:nvPr/>
        </p:nvSpPr>
        <p:spPr>
          <a:xfrm>
            <a:off x="10789920" y="4114800"/>
            <a:ext cx="2926080" cy="2926080"/>
          </a:xfrm>
          <a:prstGeom prst="ellipse">
            <a:avLst/>
          </a:prstGeom>
          <a:solidFill>
            <a:srgbClr val="E15554">
              <a:alpha val="35000"/>
            </a:srgbClr>
          </a:solidFill>
          <a:ln/>
        </p:spPr>
        <p:txBody>
          <a:bodyPr/>
          <a:lstStyle/>
          <a:p>
            <a:endParaRPr lang="en-GB"/>
          </a:p>
        </p:txBody>
      </p:sp>
      <p:sp>
        <p:nvSpPr>
          <p:cNvPr id="4" name="Shape 2"/>
          <p:cNvSpPr/>
          <p:nvPr/>
        </p:nvSpPr>
        <p:spPr>
          <a:xfrm>
            <a:off x="-1097280" y="4846320"/>
            <a:ext cx="3291840" cy="3291840"/>
          </a:xfrm>
          <a:prstGeom prst="ellipse">
            <a:avLst/>
          </a:prstGeom>
          <a:solidFill>
            <a:srgbClr val="3FA7A0">
              <a:alpha val="30000"/>
            </a:srgbClr>
          </a:solidFill>
          <a:ln/>
        </p:spPr>
        <p:txBody>
          <a:bodyPr/>
          <a:lstStyle/>
          <a:p>
            <a:endParaRPr lang="en-GB"/>
          </a:p>
        </p:txBody>
      </p:sp>
      <p:sp>
        <p:nvSpPr>
          <p:cNvPr id="5" name="Text 3"/>
          <p:cNvSpPr/>
          <p:nvPr/>
        </p:nvSpPr>
        <p:spPr>
          <a:xfrm>
            <a:off x="731520" y="2331720"/>
            <a:ext cx="7315200" cy="365760"/>
          </a:xfrm>
          <a:prstGeom prst="rect">
            <a:avLst/>
          </a:prstGeom>
          <a:noFill/>
          <a:ln/>
        </p:spPr>
        <p:txBody>
          <a:bodyPr wrap="square" rtlCol="0" anchor="ctr"/>
          <a:lstStyle/>
          <a:p>
            <a:pPr marL="0" indent="0">
              <a:buNone/>
            </a:pPr>
            <a:r>
              <a:rPr lang="en-US" sz="1400" b="1" kern="0" spc="300" dirty="0">
                <a:solidFill>
                  <a:srgbClr val="3FA7A0"/>
                </a:solidFill>
                <a:latin typeface="Calibri" pitchFamily="34" charset="0"/>
                <a:ea typeface="Calibri" pitchFamily="34" charset="-122"/>
                <a:cs typeface="Calibri" pitchFamily="34" charset="-120"/>
              </a:rPr>
              <a:t>GROUP 3  •  CAPSTONE PROJECT</a:t>
            </a:r>
            <a:endParaRPr lang="en-US" sz="1400" dirty="0"/>
          </a:p>
        </p:txBody>
      </p:sp>
      <p:sp>
        <p:nvSpPr>
          <p:cNvPr id="6" name="Text 4"/>
          <p:cNvSpPr/>
          <p:nvPr/>
        </p:nvSpPr>
        <p:spPr>
          <a:xfrm>
            <a:off x="731520" y="2697480"/>
            <a:ext cx="100584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Telco Customer Churn Analysis</a:t>
            </a:r>
            <a:endParaRPr lang="en-US" sz="4400" dirty="0"/>
          </a:p>
        </p:txBody>
      </p:sp>
      <p:sp>
        <p:nvSpPr>
          <p:cNvPr id="7" name="Text 5"/>
          <p:cNvSpPr/>
          <p:nvPr/>
        </p:nvSpPr>
        <p:spPr>
          <a:xfrm>
            <a:off x="731520" y="3611880"/>
            <a:ext cx="9601200" cy="548640"/>
          </a:xfrm>
          <a:prstGeom prst="rect">
            <a:avLst/>
          </a:prstGeom>
          <a:noFill/>
          <a:ln/>
        </p:spPr>
        <p:txBody>
          <a:bodyPr wrap="square" rtlCol="0" anchor="ctr"/>
          <a:lstStyle/>
          <a:p>
            <a:pPr marL="0" indent="0">
              <a:buNone/>
            </a:pPr>
            <a:r>
              <a:rPr lang="en-US" sz="1800" dirty="0">
                <a:solidFill>
                  <a:srgbClr val="E9EEF5"/>
                </a:solidFill>
                <a:latin typeface="Calibri" pitchFamily="34" charset="0"/>
                <a:ea typeface="Calibri" pitchFamily="34" charset="-122"/>
                <a:cs typeface="Calibri" pitchFamily="34" charset="-120"/>
              </a:rPr>
              <a:t>Service Analysis, Financial Impact &amp; Retention Strategy</a:t>
            </a:r>
            <a:endParaRPr lang="en-US" sz="1800" dirty="0"/>
          </a:p>
        </p:txBody>
      </p:sp>
      <p:sp>
        <p:nvSpPr>
          <p:cNvPr id="8" name="Text 6"/>
          <p:cNvSpPr/>
          <p:nvPr/>
        </p:nvSpPr>
        <p:spPr>
          <a:xfrm>
            <a:off x="731520" y="5989320"/>
            <a:ext cx="10058400" cy="365760"/>
          </a:xfrm>
          <a:prstGeom prst="rect">
            <a:avLst/>
          </a:prstGeom>
          <a:noFill/>
          <a:ln/>
        </p:spPr>
        <p:txBody>
          <a:bodyPr wrap="square" rtlCol="0" anchor="ctr"/>
          <a:lstStyle/>
          <a:p>
            <a:pPr marL="0" indent="0">
              <a:buNone/>
            </a:pPr>
            <a:r>
              <a:rPr lang="en-US" sz="1300" b="1" dirty="0">
                <a:solidFill>
                  <a:srgbClr val="3FA7A0"/>
                </a:solidFill>
                <a:latin typeface="Calibri" pitchFamily="34" charset="0"/>
                <a:ea typeface="Calibri" pitchFamily="34" charset="-122"/>
                <a:cs typeface="Calibri" pitchFamily="34" charset="-120"/>
              </a:rPr>
              <a:t>7,043 Customers Analyzed   |   26.5% Churn Rate   |   $139.1K/mo Revenue Lost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EF5"/>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chemeClr val="tx2">
                    <a:lumMod val="75000"/>
                  </a:schemeClr>
                </a:solidFill>
                <a:latin typeface="Calibri" pitchFamily="34" charset="0"/>
                <a:ea typeface="Calibri" pitchFamily="34" charset="-122"/>
                <a:cs typeface="Calibri" pitchFamily="34" charset="-120"/>
              </a:rPr>
              <a:t>THE BRIEF</a:t>
            </a:r>
            <a:endParaRPr lang="en-US" sz="1200" dirty="0">
              <a:solidFill>
                <a:schemeClr val="tx2">
                  <a:lumMod val="75000"/>
                </a:schemeClr>
              </a:solidFill>
            </a:endParaRPr>
          </a:p>
        </p:txBody>
      </p:sp>
      <p:sp>
        <p:nvSpPr>
          <p:cNvPr id="3" name="Text 1"/>
          <p:cNvSpPr/>
          <p:nvPr/>
        </p:nvSpPr>
        <p:spPr>
          <a:xfrm>
            <a:off x="548640" y="566928"/>
            <a:ext cx="11064240" cy="594360"/>
          </a:xfrm>
          <a:prstGeom prst="rect">
            <a:avLst/>
          </a:prstGeom>
          <a:noFill/>
          <a:ln/>
        </p:spPr>
        <p:txBody>
          <a:bodyPr wrap="square" rtlCol="0" anchor="ctr"/>
          <a:lstStyle/>
          <a:p>
            <a:pPr marL="0" indent="0">
              <a:buNone/>
            </a:pPr>
            <a:r>
              <a:rPr lang="en-US" sz="2800" b="1" dirty="0">
                <a:solidFill>
                  <a:srgbClr val="162447"/>
                </a:solidFill>
                <a:latin typeface="Cambria" pitchFamily="34" charset="0"/>
                <a:ea typeface="Cambria" pitchFamily="34" charset="-122"/>
                <a:cs typeface="Cambria" pitchFamily="34" charset="-120"/>
              </a:rPr>
              <a:t>What Stakeholders Asked Us to Find Out</a:t>
            </a:r>
            <a:endParaRPr lang="en-US" sz="2800" dirty="0"/>
          </a:p>
        </p:txBody>
      </p:sp>
      <p:sp>
        <p:nvSpPr>
          <p:cNvPr id="5" name="Shape 3"/>
          <p:cNvSpPr/>
          <p:nvPr/>
        </p:nvSpPr>
        <p:spPr>
          <a:xfrm>
            <a:off x="548640" y="1828800"/>
            <a:ext cx="2697480" cy="3520440"/>
          </a:xfrm>
          <a:prstGeom prst="roundRect">
            <a:avLst>
              <a:gd name="adj" fmla="val 2712"/>
            </a:avLst>
          </a:prstGeom>
          <a:solidFill>
            <a:srgbClr val="FFFFFF"/>
          </a:solidFill>
          <a:ln w="12700">
            <a:solidFill>
              <a:srgbClr val="D7DEE7"/>
            </a:solidFill>
            <a:prstDash val="solid"/>
          </a:ln>
          <a:effectLst>
            <a:outerShdw blurRad="63500" dist="25400" dir="5400000" algn="bl" rotWithShape="0">
              <a:srgbClr val="9AA5B1">
                <a:alpha val="20000"/>
              </a:srgbClr>
            </a:outerShdw>
          </a:effectLst>
        </p:spPr>
        <p:txBody>
          <a:bodyPr/>
          <a:lstStyle/>
          <a:p>
            <a:endParaRPr lang="en-GB"/>
          </a:p>
        </p:txBody>
      </p:sp>
      <p:sp>
        <p:nvSpPr>
          <p:cNvPr id="6" name="Shape 4"/>
          <p:cNvSpPr/>
          <p:nvPr/>
        </p:nvSpPr>
        <p:spPr>
          <a:xfrm>
            <a:off x="731520" y="2057400"/>
            <a:ext cx="2331720" cy="384048"/>
          </a:xfrm>
          <a:prstGeom prst="roundRect">
            <a:avLst>
              <a:gd name="adj" fmla="val 119048"/>
            </a:avLst>
          </a:prstGeom>
          <a:solidFill>
            <a:srgbClr val="002060"/>
          </a:solidFill>
          <a:ln/>
        </p:spPr>
        <p:txBody>
          <a:bodyPr/>
          <a:lstStyle/>
          <a:p>
            <a:endParaRPr lang="en-GB"/>
          </a:p>
        </p:txBody>
      </p:sp>
      <p:sp>
        <p:nvSpPr>
          <p:cNvPr id="7" name="Text 5"/>
          <p:cNvSpPr/>
          <p:nvPr/>
        </p:nvSpPr>
        <p:spPr>
          <a:xfrm>
            <a:off x="731520" y="2057400"/>
            <a:ext cx="233172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cs typeface="Calibri" pitchFamily="34" charset="-120"/>
              </a:rPr>
              <a:t>Q1</a:t>
            </a:r>
            <a:endParaRPr lang="en-US" sz="1200" dirty="0"/>
          </a:p>
        </p:txBody>
      </p:sp>
      <p:sp>
        <p:nvSpPr>
          <p:cNvPr id="8" name="Text 6"/>
          <p:cNvSpPr/>
          <p:nvPr/>
        </p:nvSpPr>
        <p:spPr>
          <a:xfrm>
            <a:off x="749808" y="2606040"/>
            <a:ext cx="2295144" cy="1005840"/>
          </a:xfrm>
          <a:prstGeom prst="rect">
            <a:avLst/>
          </a:prstGeom>
          <a:noFill/>
          <a:ln/>
        </p:spPr>
        <p:txBody>
          <a:bodyPr wrap="square" rtlCol="0" anchor="t"/>
          <a:lstStyle/>
          <a:p>
            <a:pPr marL="0" indent="0">
              <a:lnSpc>
                <a:spcPct val="115000"/>
              </a:lnSpc>
              <a:buNone/>
            </a:pPr>
            <a:r>
              <a:rPr lang="en-US" sz="1300" b="1" i="1" dirty="0">
                <a:solidFill>
                  <a:srgbClr val="162447"/>
                </a:solidFill>
                <a:latin typeface="Cambria" pitchFamily="34" charset="0"/>
                <a:ea typeface="Cambria" pitchFamily="34" charset="-122"/>
                <a:cs typeface="Cambria" pitchFamily="34" charset="-120"/>
              </a:rPr>
              <a:t>“Where is the money actually going?”</a:t>
            </a:r>
            <a:endParaRPr lang="en-US" sz="1300" dirty="0"/>
          </a:p>
        </p:txBody>
      </p:sp>
      <p:sp>
        <p:nvSpPr>
          <p:cNvPr id="9" name="Shape 7"/>
          <p:cNvSpPr/>
          <p:nvPr/>
        </p:nvSpPr>
        <p:spPr>
          <a:xfrm>
            <a:off x="777240" y="3703320"/>
            <a:ext cx="2240280" cy="0"/>
          </a:xfrm>
          <a:prstGeom prst="line">
            <a:avLst/>
          </a:prstGeom>
          <a:noFill/>
          <a:ln w="12700">
            <a:solidFill>
              <a:srgbClr val="E3E8EE"/>
            </a:solidFill>
            <a:prstDash val="solid"/>
          </a:ln>
        </p:spPr>
        <p:txBody>
          <a:bodyPr/>
          <a:lstStyle/>
          <a:p>
            <a:endParaRPr lang="en-GB"/>
          </a:p>
        </p:txBody>
      </p:sp>
      <p:sp>
        <p:nvSpPr>
          <p:cNvPr id="10" name="Text 8"/>
          <p:cNvSpPr/>
          <p:nvPr/>
        </p:nvSpPr>
        <p:spPr>
          <a:xfrm>
            <a:off x="749808" y="3840480"/>
            <a:ext cx="2295144" cy="1280160"/>
          </a:xfrm>
          <a:prstGeom prst="rect">
            <a:avLst/>
          </a:prstGeom>
          <a:noFill/>
          <a:ln/>
        </p:spPr>
        <p:txBody>
          <a:bodyPr wrap="square" rtlCol="0" anchor="t"/>
          <a:lstStyle/>
          <a:p>
            <a:pPr marL="0" indent="0">
              <a:lnSpc>
                <a:spcPct val="120000"/>
              </a:lnSpc>
              <a:buNone/>
            </a:pPr>
            <a:r>
              <a:rPr lang="en-US" sz="1400" dirty="0">
                <a:solidFill>
                  <a:schemeClr val="tx2">
                    <a:lumMod val="75000"/>
                  </a:schemeClr>
                </a:solidFill>
                <a:latin typeface="Calibri" pitchFamily="34" charset="0"/>
                <a:ea typeface="Calibri" pitchFamily="34" charset="-122"/>
                <a:cs typeface="Calibri" pitchFamily="34" charset="-120"/>
              </a:rPr>
              <a:t>Quantify revenue and lifetime value lost to churn.</a:t>
            </a:r>
            <a:endParaRPr lang="en-US" sz="1400" dirty="0">
              <a:solidFill>
                <a:schemeClr val="tx2">
                  <a:lumMod val="75000"/>
                </a:schemeClr>
              </a:solidFill>
            </a:endParaRPr>
          </a:p>
        </p:txBody>
      </p:sp>
      <p:sp>
        <p:nvSpPr>
          <p:cNvPr id="11" name="Shape 9"/>
          <p:cNvSpPr/>
          <p:nvPr/>
        </p:nvSpPr>
        <p:spPr>
          <a:xfrm>
            <a:off x="3429000" y="1828800"/>
            <a:ext cx="2697480" cy="3520440"/>
          </a:xfrm>
          <a:prstGeom prst="roundRect">
            <a:avLst>
              <a:gd name="adj" fmla="val 2712"/>
            </a:avLst>
          </a:prstGeom>
          <a:solidFill>
            <a:srgbClr val="FFFFFF"/>
          </a:solidFill>
          <a:ln w="12700">
            <a:solidFill>
              <a:srgbClr val="D7DEE7"/>
            </a:solidFill>
            <a:prstDash val="solid"/>
          </a:ln>
          <a:effectLst>
            <a:outerShdw blurRad="63500" dist="25400" dir="5400000" algn="bl" rotWithShape="0">
              <a:srgbClr val="9AA5B1">
                <a:alpha val="20000"/>
              </a:srgbClr>
            </a:outerShdw>
          </a:effectLst>
        </p:spPr>
        <p:txBody>
          <a:bodyPr/>
          <a:lstStyle/>
          <a:p>
            <a:endParaRPr lang="en-GB"/>
          </a:p>
        </p:txBody>
      </p:sp>
      <p:sp>
        <p:nvSpPr>
          <p:cNvPr id="12" name="Shape 10"/>
          <p:cNvSpPr/>
          <p:nvPr/>
        </p:nvSpPr>
        <p:spPr>
          <a:xfrm>
            <a:off x="3611880" y="2057400"/>
            <a:ext cx="2331720" cy="384048"/>
          </a:xfrm>
          <a:prstGeom prst="roundRect">
            <a:avLst>
              <a:gd name="adj" fmla="val 119048"/>
            </a:avLst>
          </a:prstGeom>
          <a:solidFill>
            <a:srgbClr val="002060"/>
          </a:solidFill>
          <a:ln/>
        </p:spPr>
        <p:txBody>
          <a:bodyPr/>
          <a:lstStyle/>
          <a:p>
            <a:endParaRPr lang="en-GB"/>
          </a:p>
        </p:txBody>
      </p:sp>
      <p:sp>
        <p:nvSpPr>
          <p:cNvPr id="13" name="Text 11"/>
          <p:cNvSpPr/>
          <p:nvPr/>
        </p:nvSpPr>
        <p:spPr>
          <a:xfrm>
            <a:off x="3611880" y="2057400"/>
            <a:ext cx="233172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cs typeface="Calibri" pitchFamily="34" charset="-120"/>
              </a:rPr>
              <a:t>Q2</a:t>
            </a:r>
            <a:endParaRPr lang="en-US" sz="1200" dirty="0"/>
          </a:p>
        </p:txBody>
      </p:sp>
      <p:sp>
        <p:nvSpPr>
          <p:cNvPr id="14" name="Text 12"/>
          <p:cNvSpPr/>
          <p:nvPr/>
        </p:nvSpPr>
        <p:spPr>
          <a:xfrm>
            <a:off x="3630168" y="2606040"/>
            <a:ext cx="2295144" cy="1005840"/>
          </a:xfrm>
          <a:prstGeom prst="rect">
            <a:avLst/>
          </a:prstGeom>
          <a:noFill/>
          <a:ln/>
        </p:spPr>
        <p:txBody>
          <a:bodyPr wrap="square" rtlCol="0" anchor="t"/>
          <a:lstStyle/>
          <a:p>
            <a:pPr marL="0" indent="0">
              <a:lnSpc>
                <a:spcPct val="115000"/>
              </a:lnSpc>
              <a:buNone/>
            </a:pPr>
            <a:r>
              <a:rPr lang="en-US" sz="1300" b="1" i="1" dirty="0">
                <a:solidFill>
                  <a:srgbClr val="162447"/>
                </a:solidFill>
                <a:latin typeface="Cambria" pitchFamily="34" charset="0"/>
                <a:ea typeface="Cambria" pitchFamily="34" charset="-122"/>
                <a:cs typeface="Cambria" pitchFamily="34" charset="-120"/>
              </a:rPr>
              <a:t>“Who's leaving, and who's next?”</a:t>
            </a:r>
            <a:endParaRPr lang="en-US" sz="1300" dirty="0"/>
          </a:p>
        </p:txBody>
      </p:sp>
      <p:sp>
        <p:nvSpPr>
          <p:cNvPr id="15" name="Shape 13"/>
          <p:cNvSpPr/>
          <p:nvPr/>
        </p:nvSpPr>
        <p:spPr>
          <a:xfrm>
            <a:off x="3657600" y="3703320"/>
            <a:ext cx="2240280" cy="0"/>
          </a:xfrm>
          <a:prstGeom prst="line">
            <a:avLst/>
          </a:prstGeom>
          <a:noFill/>
          <a:ln w="12700">
            <a:solidFill>
              <a:srgbClr val="E3E8EE"/>
            </a:solidFill>
            <a:prstDash val="solid"/>
          </a:ln>
        </p:spPr>
        <p:txBody>
          <a:bodyPr/>
          <a:lstStyle/>
          <a:p>
            <a:endParaRPr lang="en-GB"/>
          </a:p>
        </p:txBody>
      </p:sp>
      <p:sp>
        <p:nvSpPr>
          <p:cNvPr id="16" name="Text 14"/>
          <p:cNvSpPr/>
          <p:nvPr/>
        </p:nvSpPr>
        <p:spPr>
          <a:xfrm>
            <a:off x="3630168" y="3840480"/>
            <a:ext cx="2295144" cy="1280160"/>
          </a:xfrm>
          <a:prstGeom prst="rect">
            <a:avLst/>
          </a:prstGeom>
          <a:noFill/>
          <a:ln/>
        </p:spPr>
        <p:txBody>
          <a:bodyPr wrap="square" rtlCol="0" anchor="t"/>
          <a:lstStyle/>
          <a:p>
            <a:pPr marL="0" indent="0">
              <a:lnSpc>
                <a:spcPct val="120000"/>
              </a:lnSpc>
              <a:buNone/>
            </a:pPr>
            <a:r>
              <a:rPr lang="en-US" sz="1400" dirty="0">
                <a:solidFill>
                  <a:schemeClr val="tx2">
                    <a:lumMod val="75000"/>
                  </a:schemeClr>
                </a:solidFill>
                <a:latin typeface="Calibri" pitchFamily="34" charset="0"/>
                <a:ea typeface="Calibri" pitchFamily="34" charset="-122"/>
                <a:cs typeface="Calibri" pitchFamily="34" charset="-120"/>
              </a:rPr>
              <a:t>Profile churn by contract and payment behaviour.</a:t>
            </a:r>
            <a:endParaRPr lang="en-US" sz="1400" dirty="0">
              <a:solidFill>
                <a:schemeClr val="tx2">
                  <a:lumMod val="75000"/>
                </a:schemeClr>
              </a:solidFill>
            </a:endParaRPr>
          </a:p>
        </p:txBody>
      </p:sp>
      <p:sp>
        <p:nvSpPr>
          <p:cNvPr id="17" name="Shape 15"/>
          <p:cNvSpPr/>
          <p:nvPr/>
        </p:nvSpPr>
        <p:spPr>
          <a:xfrm>
            <a:off x="6309360" y="1828800"/>
            <a:ext cx="2697480" cy="3520440"/>
          </a:xfrm>
          <a:prstGeom prst="roundRect">
            <a:avLst>
              <a:gd name="adj" fmla="val 2712"/>
            </a:avLst>
          </a:prstGeom>
          <a:solidFill>
            <a:srgbClr val="FFFFFF"/>
          </a:solidFill>
          <a:ln w="12700">
            <a:solidFill>
              <a:srgbClr val="D7DEE7"/>
            </a:solidFill>
            <a:prstDash val="solid"/>
          </a:ln>
          <a:effectLst>
            <a:outerShdw blurRad="63500" dist="25400" dir="5400000" algn="bl" rotWithShape="0">
              <a:srgbClr val="9AA5B1">
                <a:alpha val="20000"/>
              </a:srgbClr>
            </a:outerShdw>
          </a:effectLst>
        </p:spPr>
        <p:txBody>
          <a:bodyPr/>
          <a:lstStyle/>
          <a:p>
            <a:endParaRPr lang="en-GB"/>
          </a:p>
        </p:txBody>
      </p:sp>
      <p:sp>
        <p:nvSpPr>
          <p:cNvPr id="18" name="Shape 16"/>
          <p:cNvSpPr/>
          <p:nvPr/>
        </p:nvSpPr>
        <p:spPr>
          <a:xfrm>
            <a:off x="6492240" y="2057400"/>
            <a:ext cx="2331720" cy="384048"/>
          </a:xfrm>
          <a:prstGeom prst="roundRect">
            <a:avLst>
              <a:gd name="adj" fmla="val 119048"/>
            </a:avLst>
          </a:prstGeom>
          <a:solidFill>
            <a:srgbClr val="002060"/>
          </a:solidFill>
          <a:ln/>
        </p:spPr>
        <p:txBody>
          <a:bodyPr/>
          <a:lstStyle/>
          <a:p>
            <a:endParaRPr lang="en-GB"/>
          </a:p>
        </p:txBody>
      </p:sp>
      <p:sp>
        <p:nvSpPr>
          <p:cNvPr id="19" name="Text 17"/>
          <p:cNvSpPr/>
          <p:nvPr/>
        </p:nvSpPr>
        <p:spPr>
          <a:xfrm>
            <a:off x="6492240" y="2057400"/>
            <a:ext cx="233172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Q3</a:t>
            </a:r>
            <a:endParaRPr lang="en-US" sz="1200" dirty="0"/>
          </a:p>
        </p:txBody>
      </p:sp>
      <p:sp>
        <p:nvSpPr>
          <p:cNvPr id="20" name="Text 18"/>
          <p:cNvSpPr/>
          <p:nvPr/>
        </p:nvSpPr>
        <p:spPr>
          <a:xfrm>
            <a:off x="6510528" y="2606040"/>
            <a:ext cx="2295144" cy="1005840"/>
          </a:xfrm>
          <a:prstGeom prst="rect">
            <a:avLst/>
          </a:prstGeom>
          <a:noFill/>
          <a:ln/>
        </p:spPr>
        <p:txBody>
          <a:bodyPr wrap="square" rtlCol="0" anchor="t"/>
          <a:lstStyle/>
          <a:p>
            <a:pPr marL="0" indent="0">
              <a:lnSpc>
                <a:spcPct val="115000"/>
              </a:lnSpc>
              <a:buNone/>
            </a:pPr>
            <a:r>
              <a:rPr lang="en-US" sz="1300" b="1" i="1" dirty="0">
                <a:solidFill>
                  <a:srgbClr val="162447"/>
                </a:solidFill>
                <a:latin typeface="Cambria" pitchFamily="34" charset="0"/>
                <a:ea typeface="Cambria" pitchFamily="34" charset="-122"/>
                <a:cs typeface="Cambria" pitchFamily="34" charset="-120"/>
              </a:rPr>
              <a:t>“Which services should we push harder?”</a:t>
            </a:r>
            <a:endParaRPr lang="en-US" sz="1300" dirty="0"/>
          </a:p>
        </p:txBody>
      </p:sp>
      <p:sp>
        <p:nvSpPr>
          <p:cNvPr id="21" name="Shape 19"/>
          <p:cNvSpPr/>
          <p:nvPr/>
        </p:nvSpPr>
        <p:spPr>
          <a:xfrm>
            <a:off x="6537960" y="3703320"/>
            <a:ext cx="2240280" cy="0"/>
          </a:xfrm>
          <a:prstGeom prst="line">
            <a:avLst/>
          </a:prstGeom>
          <a:noFill/>
          <a:ln w="12700">
            <a:solidFill>
              <a:srgbClr val="E3E8EE"/>
            </a:solidFill>
            <a:prstDash val="solid"/>
          </a:ln>
        </p:spPr>
        <p:txBody>
          <a:bodyPr/>
          <a:lstStyle/>
          <a:p>
            <a:endParaRPr lang="en-GB"/>
          </a:p>
        </p:txBody>
      </p:sp>
      <p:sp>
        <p:nvSpPr>
          <p:cNvPr id="22" name="Text 20"/>
          <p:cNvSpPr/>
          <p:nvPr/>
        </p:nvSpPr>
        <p:spPr>
          <a:xfrm>
            <a:off x="6510528" y="3840480"/>
            <a:ext cx="2295144" cy="1280160"/>
          </a:xfrm>
          <a:prstGeom prst="rect">
            <a:avLst/>
          </a:prstGeom>
          <a:noFill/>
          <a:ln/>
        </p:spPr>
        <p:txBody>
          <a:bodyPr wrap="square" rtlCol="0" anchor="t"/>
          <a:lstStyle/>
          <a:p>
            <a:pPr marL="0" indent="0">
              <a:lnSpc>
                <a:spcPct val="120000"/>
              </a:lnSpc>
              <a:buNone/>
            </a:pPr>
            <a:r>
              <a:rPr lang="en-US" sz="1400" dirty="0">
                <a:solidFill>
                  <a:schemeClr val="tx2">
                    <a:lumMod val="75000"/>
                  </a:schemeClr>
                </a:solidFill>
                <a:latin typeface="Calibri" pitchFamily="34" charset="0"/>
                <a:ea typeface="Calibri" pitchFamily="34" charset="-122"/>
                <a:cs typeface="Calibri" pitchFamily="34" charset="-120"/>
              </a:rPr>
              <a:t>Prove which add-ons reduce churn risk.</a:t>
            </a:r>
            <a:endParaRPr lang="en-US" sz="1400" dirty="0">
              <a:solidFill>
                <a:schemeClr val="tx2">
                  <a:lumMod val="75000"/>
                </a:schemeClr>
              </a:solidFill>
            </a:endParaRPr>
          </a:p>
        </p:txBody>
      </p:sp>
      <p:sp>
        <p:nvSpPr>
          <p:cNvPr id="23" name="Shape 21"/>
          <p:cNvSpPr/>
          <p:nvPr/>
        </p:nvSpPr>
        <p:spPr>
          <a:xfrm>
            <a:off x="9189720" y="1828800"/>
            <a:ext cx="2697480" cy="3520440"/>
          </a:xfrm>
          <a:prstGeom prst="roundRect">
            <a:avLst>
              <a:gd name="adj" fmla="val 2712"/>
            </a:avLst>
          </a:prstGeom>
          <a:solidFill>
            <a:srgbClr val="FFFFFF"/>
          </a:solidFill>
          <a:ln w="12700">
            <a:solidFill>
              <a:srgbClr val="D7DEE7"/>
            </a:solidFill>
            <a:prstDash val="solid"/>
          </a:ln>
          <a:effectLst>
            <a:outerShdw blurRad="63500" dist="25400" dir="5400000" algn="bl" rotWithShape="0">
              <a:srgbClr val="9AA5B1">
                <a:alpha val="20000"/>
              </a:srgbClr>
            </a:outerShdw>
          </a:effectLst>
        </p:spPr>
        <p:txBody>
          <a:bodyPr/>
          <a:lstStyle/>
          <a:p>
            <a:endParaRPr lang="en-GB"/>
          </a:p>
        </p:txBody>
      </p:sp>
      <p:sp>
        <p:nvSpPr>
          <p:cNvPr id="24" name="Shape 22"/>
          <p:cNvSpPr/>
          <p:nvPr/>
        </p:nvSpPr>
        <p:spPr>
          <a:xfrm>
            <a:off x="9372600" y="2057400"/>
            <a:ext cx="2331720" cy="384048"/>
          </a:xfrm>
          <a:prstGeom prst="roundRect">
            <a:avLst>
              <a:gd name="adj" fmla="val 119048"/>
            </a:avLst>
          </a:prstGeom>
          <a:solidFill>
            <a:srgbClr val="002060"/>
          </a:solidFill>
          <a:ln/>
        </p:spPr>
        <p:txBody>
          <a:bodyPr/>
          <a:lstStyle/>
          <a:p>
            <a:endParaRPr lang="en-GB"/>
          </a:p>
        </p:txBody>
      </p:sp>
      <p:sp>
        <p:nvSpPr>
          <p:cNvPr id="25" name="Text 23"/>
          <p:cNvSpPr/>
          <p:nvPr/>
        </p:nvSpPr>
        <p:spPr>
          <a:xfrm>
            <a:off x="9372600" y="2057400"/>
            <a:ext cx="233172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cs typeface="Calibri" pitchFamily="34" charset="-120"/>
              </a:rPr>
              <a:t>Q4</a:t>
            </a:r>
            <a:endParaRPr lang="en-US" sz="1200" dirty="0"/>
          </a:p>
        </p:txBody>
      </p:sp>
      <p:sp>
        <p:nvSpPr>
          <p:cNvPr id="26" name="Text 24"/>
          <p:cNvSpPr/>
          <p:nvPr/>
        </p:nvSpPr>
        <p:spPr>
          <a:xfrm>
            <a:off x="9390888" y="2606040"/>
            <a:ext cx="2295144" cy="1005840"/>
          </a:xfrm>
          <a:prstGeom prst="rect">
            <a:avLst/>
          </a:prstGeom>
          <a:noFill/>
          <a:ln/>
        </p:spPr>
        <p:txBody>
          <a:bodyPr wrap="square" rtlCol="0" anchor="t"/>
          <a:lstStyle/>
          <a:p>
            <a:pPr marL="0" indent="0">
              <a:lnSpc>
                <a:spcPct val="115000"/>
              </a:lnSpc>
              <a:buNone/>
            </a:pPr>
            <a:r>
              <a:rPr lang="en-US" sz="1300" b="1" i="1" dirty="0">
                <a:solidFill>
                  <a:srgbClr val="162447"/>
                </a:solidFill>
                <a:latin typeface="Cambria" pitchFamily="34" charset="0"/>
                <a:ea typeface="Cambria" pitchFamily="34" charset="-122"/>
                <a:cs typeface="Cambria" pitchFamily="34" charset="-120"/>
              </a:rPr>
              <a:t>“Is it price, or is it us?”</a:t>
            </a:r>
            <a:endParaRPr lang="en-US" sz="1300" dirty="0"/>
          </a:p>
        </p:txBody>
      </p:sp>
      <p:sp>
        <p:nvSpPr>
          <p:cNvPr id="27" name="Shape 25"/>
          <p:cNvSpPr/>
          <p:nvPr/>
        </p:nvSpPr>
        <p:spPr>
          <a:xfrm>
            <a:off x="9418320" y="3703320"/>
            <a:ext cx="2240280" cy="0"/>
          </a:xfrm>
          <a:prstGeom prst="line">
            <a:avLst/>
          </a:prstGeom>
          <a:noFill/>
          <a:ln w="12700">
            <a:solidFill>
              <a:srgbClr val="E3E8EE"/>
            </a:solidFill>
            <a:prstDash val="solid"/>
          </a:ln>
        </p:spPr>
        <p:txBody>
          <a:bodyPr/>
          <a:lstStyle/>
          <a:p>
            <a:endParaRPr lang="en-GB"/>
          </a:p>
        </p:txBody>
      </p:sp>
      <p:sp>
        <p:nvSpPr>
          <p:cNvPr id="28" name="Text 26"/>
          <p:cNvSpPr/>
          <p:nvPr/>
        </p:nvSpPr>
        <p:spPr>
          <a:xfrm>
            <a:off x="9390888" y="3840480"/>
            <a:ext cx="2295144" cy="1280160"/>
          </a:xfrm>
          <a:prstGeom prst="rect">
            <a:avLst/>
          </a:prstGeom>
          <a:noFill/>
          <a:ln/>
        </p:spPr>
        <p:txBody>
          <a:bodyPr wrap="square" rtlCol="0" anchor="t"/>
          <a:lstStyle/>
          <a:p>
            <a:pPr marL="0" indent="0">
              <a:lnSpc>
                <a:spcPct val="120000"/>
              </a:lnSpc>
              <a:buNone/>
            </a:pPr>
            <a:r>
              <a:rPr lang="en-US" sz="1400" dirty="0">
                <a:solidFill>
                  <a:schemeClr val="tx2">
                    <a:lumMod val="75000"/>
                  </a:schemeClr>
                </a:solidFill>
                <a:latin typeface="Calibri" pitchFamily="34" charset="0"/>
                <a:ea typeface="Calibri" pitchFamily="34" charset="-122"/>
                <a:cs typeface="Calibri" pitchFamily="34" charset="-120"/>
              </a:rPr>
              <a:t>Separate price-driven churn from service-driven churn.</a:t>
            </a:r>
            <a:endParaRPr lang="en-US" sz="1400" dirty="0">
              <a:solidFill>
                <a:schemeClr val="tx2">
                  <a:lumMod val="75000"/>
                </a:schemeClr>
              </a:solidFill>
            </a:endParaRPr>
          </a:p>
        </p:txBody>
      </p:sp>
      <p:sp>
        <p:nvSpPr>
          <p:cNvPr id="30" name="Text 28"/>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C6B7A"/>
                </a:solidFill>
                <a:latin typeface="Calibri" pitchFamily="34" charset="0"/>
                <a:ea typeface="Calibri" pitchFamily="34" charset="-122"/>
                <a:cs typeface="Calibri" pitchFamily="34" charset="-120"/>
              </a:rPr>
              <a:t>Customer Churn Analysis  |  Group 3</a:t>
            </a:r>
            <a:endParaRPr lang="en-US" sz="900" dirty="0"/>
          </a:p>
        </p:txBody>
      </p:sp>
      <p:sp>
        <p:nvSpPr>
          <p:cNvPr id="31" name="Text 29"/>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EF5"/>
        </a:solidFill>
        <a:effectLst/>
      </p:bgPr>
    </p:bg>
    <p:spTree>
      <p:nvGrpSpPr>
        <p:cNvPr id="1" name=""/>
        <p:cNvGrpSpPr/>
        <p:nvPr/>
      </p:nvGrpSpPr>
      <p:grpSpPr>
        <a:xfrm>
          <a:off x="0" y="0"/>
          <a:ext cx="0" cy="0"/>
          <a:chOff x="0" y="0"/>
          <a:chExt cx="0" cy="0"/>
        </a:xfrm>
      </p:grpSpPr>
      <p:sp>
        <p:nvSpPr>
          <p:cNvPr id="3" name="Text 1"/>
          <p:cNvSpPr/>
          <p:nvPr/>
        </p:nvSpPr>
        <p:spPr>
          <a:xfrm>
            <a:off x="563880" y="-34284"/>
            <a:ext cx="11064240" cy="594360"/>
          </a:xfrm>
          <a:prstGeom prst="rect">
            <a:avLst/>
          </a:prstGeom>
          <a:noFill/>
          <a:ln/>
        </p:spPr>
        <p:txBody>
          <a:bodyPr wrap="square" rtlCol="0" anchor="ctr"/>
          <a:lstStyle/>
          <a:p>
            <a:pPr marL="0" indent="0">
              <a:buNone/>
            </a:pPr>
            <a:r>
              <a:rPr lang="en-US" sz="2800" b="1" dirty="0">
                <a:solidFill>
                  <a:srgbClr val="162447"/>
                </a:solidFill>
                <a:latin typeface="Cambria" pitchFamily="34" charset="0"/>
                <a:ea typeface="Cambria" pitchFamily="34" charset="-122"/>
                <a:cs typeface="Cambria" pitchFamily="34" charset="-120"/>
              </a:rPr>
              <a:t>The Churn Story at a Glance</a:t>
            </a:r>
            <a:endParaRPr lang="en-US" sz="2800" dirty="0"/>
          </a:p>
        </p:txBody>
      </p:sp>
      <p:sp>
        <p:nvSpPr>
          <p:cNvPr id="22" name="Text 19"/>
          <p:cNvSpPr/>
          <p:nvPr/>
        </p:nvSpPr>
        <p:spPr>
          <a:xfrm>
            <a:off x="0" y="6618642"/>
            <a:ext cx="7315200" cy="274320"/>
          </a:xfrm>
          <a:prstGeom prst="rect">
            <a:avLst/>
          </a:prstGeom>
          <a:noFill/>
          <a:ln/>
        </p:spPr>
        <p:txBody>
          <a:bodyPr wrap="square" rtlCol="0" anchor="ctr"/>
          <a:lstStyle/>
          <a:p>
            <a:pPr marL="0" indent="0">
              <a:buNone/>
            </a:pPr>
            <a:r>
              <a:rPr lang="en-US" sz="900" dirty="0">
                <a:solidFill>
                  <a:srgbClr val="5C6B7A"/>
                </a:solidFill>
                <a:latin typeface="Calibri" pitchFamily="34" charset="0"/>
                <a:ea typeface="Calibri" pitchFamily="34" charset="-122"/>
                <a:cs typeface="Calibri" pitchFamily="34" charset="-120"/>
              </a:rPr>
              <a:t>Customer Churn Analysis  |  Group 3</a:t>
            </a:r>
            <a:endParaRPr lang="en-US" sz="900" dirty="0"/>
          </a:p>
        </p:txBody>
      </p:sp>
      <p:sp>
        <p:nvSpPr>
          <p:cNvPr id="23" name="Text 2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3</a:t>
            </a:r>
            <a:endParaRPr lang="en-US" sz="900" dirty="0"/>
          </a:p>
        </p:txBody>
      </p:sp>
      <p:pic>
        <p:nvPicPr>
          <p:cNvPr id="4" name="Picture 3">
            <a:extLst>
              <a:ext uri="{FF2B5EF4-FFF2-40B4-BE49-F238E27FC236}">
                <a16:creationId xmlns:a16="http://schemas.microsoft.com/office/drawing/2014/main" id="{60491906-5514-D07B-CAA2-2703AD76EC50}"/>
              </a:ext>
            </a:extLst>
          </p:cNvPr>
          <p:cNvPicPr>
            <a:picLocks noChangeAspect="1"/>
          </p:cNvPicPr>
          <p:nvPr/>
        </p:nvPicPr>
        <p:blipFill>
          <a:blip r:embed="rId3"/>
          <a:stretch>
            <a:fillRect/>
          </a:stretch>
        </p:blipFill>
        <p:spPr>
          <a:xfrm>
            <a:off x="894264" y="522739"/>
            <a:ext cx="9981717" cy="61523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2E6E86"/>
                </a:solidFill>
                <a:latin typeface="Calibri" pitchFamily="34" charset="0"/>
                <a:ea typeface="Calibri" pitchFamily="34" charset="-122"/>
                <a:cs typeface="Calibri" pitchFamily="34" charset="-120"/>
              </a:rPr>
              <a:t>CUSTOMER BEHAVIOUR</a:t>
            </a:r>
            <a:endParaRPr lang="en-US" sz="1200" dirty="0">
              <a:solidFill>
                <a:srgbClr val="2E6E86"/>
              </a:solidFill>
            </a:endParaRPr>
          </a:p>
        </p:txBody>
      </p:sp>
      <p:sp>
        <p:nvSpPr>
          <p:cNvPr id="3" name="Text 1"/>
          <p:cNvSpPr/>
          <p:nvPr/>
        </p:nvSpPr>
        <p:spPr>
          <a:xfrm>
            <a:off x="548640" y="566928"/>
            <a:ext cx="11064240" cy="594360"/>
          </a:xfrm>
          <a:prstGeom prst="rect">
            <a:avLst/>
          </a:prstGeom>
          <a:noFill/>
          <a:ln/>
        </p:spPr>
        <p:txBody>
          <a:bodyPr wrap="square" rtlCol="0" anchor="ctr"/>
          <a:lstStyle/>
          <a:p>
            <a:pPr marL="0" indent="0">
              <a:buNone/>
            </a:pPr>
            <a:r>
              <a:rPr lang="en-US" sz="2800" b="1" dirty="0">
                <a:solidFill>
                  <a:srgbClr val="162447"/>
                </a:solidFill>
                <a:latin typeface="Cambria" pitchFamily="34" charset="0"/>
                <a:ea typeface="Cambria" pitchFamily="34" charset="-122"/>
                <a:cs typeface="Cambria" pitchFamily="34" charset="-120"/>
              </a:rPr>
              <a:t>Who's Leaving, and Why It's Predictable</a:t>
            </a:r>
            <a:endParaRPr lang="en-US" sz="2800" dirty="0"/>
          </a:p>
        </p:txBody>
      </p:sp>
      <p:sp>
        <p:nvSpPr>
          <p:cNvPr id="4" name="Shape 2"/>
          <p:cNvSpPr/>
          <p:nvPr/>
        </p:nvSpPr>
        <p:spPr>
          <a:xfrm>
            <a:off x="411480" y="1344168"/>
            <a:ext cx="1828800" cy="914400"/>
          </a:xfrm>
          <a:prstGeom prst="roundRect">
            <a:avLst>
              <a:gd name="adj" fmla="val 8000"/>
            </a:avLst>
          </a:prstGeom>
          <a:solidFill>
            <a:srgbClr val="FFFFFF"/>
          </a:solidFill>
          <a:ln w="12700">
            <a:solidFill>
              <a:srgbClr val="D7DEE7"/>
            </a:solidFill>
            <a:prstDash val="solid"/>
          </a:ln>
          <a:effectLst>
            <a:outerShdw blurRad="76200" dist="25400" dir="5400000" algn="bl" rotWithShape="0">
              <a:srgbClr val="9AA5B1">
                <a:alpha val="25000"/>
              </a:srgbClr>
            </a:outerShdw>
          </a:effectLst>
        </p:spPr>
        <p:txBody>
          <a:bodyPr/>
          <a:lstStyle/>
          <a:p>
            <a:endParaRPr lang="en-GB"/>
          </a:p>
        </p:txBody>
      </p:sp>
      <p:sp>
        <p:nvSpPr>
          <p:cNvPr id="5" name="Text 3"/>
          <p:cNvSpPr/>
          <p:nvPr/>
        </p:nvSpPr>
        <p:spPr>
          <a:xfrm>
            <a:off x="640080" y="1435608"/>
            <a:ext cx="1645920" cy="502920"/>
          </a:xfrm>
          <a:prstGeom prst="rect">
            <a:avLst/>
          </a:prstGeom>
          <a:noFill/>
          <a:ln/>
        </p:spPr>
        <p:txBody>
          <a:bodyPr wrap="square" rtlCol="0" anchor="b"/>
          <a:lstStyle/>
          <a:p>
            <a:pPr marL="0" indent="0" algn="ctr">
              <a:buNone/>
            </a:pPr>
            <a:r>
              <a:rPr lang="en-US" sz="2400" b="1" dirty="0">
                <a:solidFill>
                  <a:srgbClr val="162447"/>
                </a:solidFill>
                <a:latin typeface="Cambria" pitchFamily="34" charset="0"/>
                <a:ea typeface="Cambria" pitchFamily="34" charset="-122"/>
              </a:rPr>
              <a:t>2k</a:t>
            </a:r>
            <a:endParaRPr lang="en-US" sz="2400" dirty="0">
              <a:solidFill>
                <a:srgbClr val="162447"/>
              </a:solidFill>
            </a:endParaRPr>
          </a:p>
        </p:txBody>
      </p:sp>
      <p:sp>
        <p:nvSpPr>
          <p:cNvPr id="6" name="Text 4"/>
          <p:cNvSpPr/>
          <p:nvPr/>
        </p:nvSpPr>
        <p:spPr>
          <a:xfrm>
            <a:off x="640080" y="1892808"/>
            <a:ext cx="1645920" cy="320040"/>
          </a:xfrm>
          <a:prstGeom prst="rect">
            <a:avLst/>
          </a:prstGeom>
          <a:noFill/>
          <a:ln/>
        </p:spPr>
        <p:txBody>
          <a:bodyPr wrap="square" rtlCol="0" anchor="t"/>
          <a:lstStyle/>
          <a:p>
            <a:pPr marL="0" indent="0" algn="ctr">
              <a:buNone/>
            </a:pPr>
            <a:r>
              <a:rPr lang="en-US" sz="1100" dirty="0">
                <a:solidFill>
                  <a:srgbClr val="5C6B7A"/>
                </a:solidFill>
                <a:latin typeface="Calibri" pitchFamily="34" charset="0"/>
                <a:ea typeface="Calibri" pitchFamily="34" charset="-122"/>
                <a:cs typeface="Calibri" pitchFamily="34" charset="-120"/>
              </a:rPr>
              <a:t>Churned Customers</a:t>
            </a:r>
            <a:endParaRPr lang="en-US" sz="1100" dirty="0"/>
          </a:p>
        </p:txBody>
      </p:sp>
      <p:sp>
        <p:nvSpPr>
          <p:cNvPr id="7" name="Shape 5"/>
          <p:cNvSpPr/>
          <p:nvPr/>
        </p:nvSpPr>
        <p:spPr>
          <a:xfrm>
            <a:off x="2514600" y="1380744"/>
            <a:ext cx="1828800" cy="914400"/>
          </a:xfrm>
          <a:prstGeom prst="roundRect">
            <a:avLst>
              <a:gd name="adj" fmla="val 8000"/>
            </a:avLst>
          </a:prstGeom>
          <a:solidFill>
            <a:srgbClr val="FFFFFF"/>
          </a:solidFill>
          <a:ln w="12700">
            <a:solidFill>
              <a:srgbClr val="D7DEE7"/>
            </a:solidFill>
            <a:prstDash val="solid"/>
          </a:ln>
          <a:effectLst>
            <a:outerShdw blurRad="76200" dist="25400" dir="5400000" algn="bl" rotWithShape="0">
              <a:srgbClr val="9AA5B1">
                <a:alpha val="25000"/>
              </a:srgbClr>
            </a:outerShdw>
          </a:effectLst>
        </p:spPr>
        <p:txBody>
          <a:bodyPr/>
          <a:lstStyle/>
          <a:p>
            <a:endParaRPr lang="en-GB"/>
          </a:p>
        </p:txBody>
      </p:sp>
      <p:sp>
        <p:nvSpPr>
          <p:cNvPr id="8" name="Text 6"/>
          <p:cNvSpPr/>
          <p:nvPr/>
        </p:nvSpPr>
        <p:spPr>
          <a:xfrm>
            <a:off x="2606040" y="1435608"/>
            <a:ext cx="1645920" cy="502920"/>
          </a:xfrm>
          <a:prstGeom prst="rect">
            <a:avLst/>
          </a:prstGeom>
          <a:noFill/>
          <a:ln/>
        </p:spPr>
        <p:txBody>
          <a:bodyPr wrap="square" rtlCol="0" anchor="b"/>
          <a:lstStyle/>
          <a:p>
            <a:pPr marL="0" indent="0" algn="ctr">
              <a:buNone/>
            </a:pPr>
            <a:r>
              <a:rPr lang="en-US" sz="2400" b="1" dirty="0">
                <a:solidFill>
                  <a:srgbClr val="162447"/>
                </a:solidFill>
                <a:latin typeface="Cambria" pitchFamily="34" charset="0"/>
                <a:ea typeface="Cambria" pitchFamily="34" charset="-122"/>
                <a:cs typeface="Cambria" pitchFamily="34" charset="-120"/>
              </a:rPr>
              <a:t>42.7%</a:t>
            </a:r>
            <a:endParaRPr lang="en-US" sz="2400" dirty="0"/>
          </a:p>
        </p:txBody>
      </p:sp>
      <p:sp>
        <p:nvSpPr>
          <p:cNvPr id="9" name="Text 7"/>
          <p:cNvSpPr/>
          <p:nvPr/>
        </p:nvSpPr>
        <p:spPr>
          <a:xfrm>
            <a:off x="2606040" y="1892808"/>
            <a:ext cx="1645920" cy="320040"/>
          </a:xfrm>
          <a:prstGeom prst="rect">
            <a:avLst/>
          </a:prstGeom>
          <a:noFill/>
          <a:ln/>
        </p:spPr>
        <p:txBody>
          <a:bodyPr wrap="square" rtlCol="0" anchor="t"/>
          <a:lstStyle/>
          <a:p>
            <a:pPr marL="0" indent="0" algn="ctr">
              <a:buNone/>
            </a:pPr>
            <a:r>
              <a:rPr lang="en-US" sz="1100" dirty="0">
                <a:solidFill>
                  <a:srgbClr val="5C6B7A"/>
                </a:solidFill>
                <a:latin typeface="Calibri" pitchFamily="34" charset="0"/>
                <a:ea typeface="Calibri" pitchFamily="34" charset="-122"/>
                <a:cs typeface="Calibri" pitchFamily="34" charset="-120"/>
              </a:rPr>
              <a:t>Month-to-Month Churn Rate</a:t>
            </a:r>
            <a:endParaRPr lang="en-US" sz="1100" dirty="0"/>
          </a:p>
        </p:txBody>
      </p:sp>
      <p:graphicFrame>
        <p:nvGraphicFramePr>
          <p:cNvPr id="10" name="Chart 0"/>
          <p:cNvGraphicFramePr/>
          <p:nvPr>
            <p:extLst>
              <p:ext uri="{D42A27DB-BD31-4B8C-83A1-F6EECF244321}">
                <p14:modId xmlns:p14="http://schemas.microsoft.com/office/powerpoint/2010/main" val="1623939548"/>
              </p:ext>
            </p:extLst>
          </p:nvPr>
        </p:nvGraphicFramePr>
        <p:xfrm>
          <a:off x="457200" y="2423160"/>
          <a:ext cx="5669280" cy="1965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
          <p:cNvGraphicFramePr/>
          <p:nvPr>
            <p:extLst>
              <p:ext uri="{D42A27DB-BD31-4B8C-83A1-F6EECF244321}">
                <p14:modId xmlns:p14="http://schemas.microsoft.com/office/powerpoint/2010/main" val="1496426105"/>
              </p:ext>
            </p:extLst>
          </p:nvPr>
        </p:nvGraphicFramePr>
        <p:xfrm>
          <a:off x="457200" y="4526280"/>
          <a:ext cx="5669280" cy="1965960"/>
        </p:xfrm>
        <a:graphic>
          <a:graphicData uri="http://schemas.openxmlformats.org/drawingml/2006/chart">
            <c:chart xmlns:c="http://schemas.openxmlformats.org/drawingml/2006/chart" xmlns:r="http://schemas.openxmlformats.org/officeDocument/2006/relationships" r:id="rId4"/>
          </a:graphicData>
        </a:graphic>
      </p:graphicFrame>
      <p:sp>
        <p:nvSpPr>
          <p:cNvPr id="12" name="Shape 8"/>
          <p:cNvSpPr/>
          <p:nvPr/>
        </p:nvSpPr>
        <p:spPr>
          <a:xfrm>
            <a:off x="6446520" y="1325880"/>
            <a:ext cx="5257800" cy="320040"/>
          </a:xfrm>
          <a:prstGeom prst="roundRect">
            <a:avLst>
              <a:gd name="adj" fmla="val 17143"/>
            </a:avLst>
          </a:prstGeom>
          <a:solidFill>
            <a:srgbClr val="162447"/>
          </a:solidFill>
          <a:ln/>
        </p:spPr>
        <p:txBody>
          <a:bodyPr/>
          <a:lstStyle/>
          <a:p>
            <a:endParaRPr lang="en-GB"/>
          </a:p>
        </p:txBody>
      </p:sp>
      <p:sp>
        <p:nvSpPr>
          <p:cNvPr id="13" name="Text 9"/>
          <p:cNvSpPr/>
          <p:nvPr/>
        </p:nvSpPr>
        <p:spPr>
          <a:xfrm>
            <a:off x="6583680" y="1325880"/>
            <a:ext cx="498348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INSIGHT</a:t>
            </a:r>
            <a:endParaRPr lang="en-US" sz="1200" dirty="0"/>
          </a:p>
        </p:txBody>
      </p:sp>
      <p:sp>
        <p:nvSpPr>
          <p:cNvPr id="14" name="Text 10"/>
          <p:cNvSpPr/>
          <p:nvPr/>
        </p:nvSpPr>
        <p:spPr>
          <a:xfrm>
            <a:off x="6446520" y="1709928"/>
            <a:ext cx="5257800" cy="1417320"/>
          </a:xfrm>
          <a:prstGeom prst="rect">
            <a:avLst/>
          </a:prstGeom>
          <a:noFill/>
          <a:ln/>
        </p:spPr>
        <p:txBody>
          <a:bodyPr wrap="square" rtlCol="0" anchor="t"/>
          <a:lstStyle/>
          <a:p>
            <a:pPr>
              <a:lnSpc>
                <a:spcPct val="115000"/>
              </a:lnSpc>
            </a:pPr>
            <a:r>
              <a:rPr lang="en-US" sz="1600" dirty="0">
                <a:solidFill>
                  <a:schemeClr val="tx2">
                    <a:lumMod val="50000"/>
                  </a:schemeClr>
                </a:solidFill>
                <a:latin typeface="Calibri" pitchFamily="34" charset="0"/>
                <a:ea typeface="Calibri" pitchFamily="34" charset="-122"/>
                <a:cs typeface="Calibri" pitchFamily="34" charset="-120"/>
              </a:rPr>
              <a:t>88.55% of churned customers were on month-to-month contracts, and 57.3% paid by Electronic Check. This shows that, </a:t>
            </a:r>
            <a:r>
              <a:rPr lang="en-GB" sz="1600" dirty="0">
                <a:solidFill>
                  <a:schemeClr val="tx2">
                    <a:lumMod val="50000"/>
                  </a:schemeClr>
                </a:solidFill>
                <a:latin typeface="Calibri" pitchFamily="34" charset="0"/>
                <a:ea typeface="Calibri" pitchFamily="34" charset="-122"/>
                <a:cs typeface="Calibri" pitchFamily="34" charset="-120"/>
              </a:rPr>
              <a:t>s</a:t>
            </a:r>
            <a:r>
              <a:rPr lang="en-GB" sz="1600" dirty="0">
                <a:solidFill>
                  <a:schemeClr val="tx2">
                    <a:lumMod val="50000"/>
                  </a:schemeClr>
                </a:solidFill>
              </a:rPr>
              <a:t>hort-term contracts and manual payment methods are the two strongest predictors of churn.</a:t>
            </a:r>
            <a:endParaRPr lang="en-US" sz="1600" dirty="0">
              <a:solidFill>
                <a:schemeClr val="tx2">
                  <a:lumMod val="50000"/>
                </a:schemeClr>
              </a:solidFill>
            </a:endParaRPr>
          </a:p>
        </p:txBody>
      </p:sp>
      <p:sp>
        <p:nvSpPr>
          <p:cNvPr id="15" name="Shape 11"/>
          <p:cNvSpPr/>
          <p:nvPr/>
        </p:nvSpPr>
        <p:spPr>
          <a:xfrm>
            <a:off x="6446520" y="3200400"/>
            <a:ext cx="5257800" cy="320040"/>
          </a:xfrm>
          <a:prstGeom prst="roundRect">
            <a:avLst>
              <a:gd name="adj" fmla="val 17143"/>
            </a:avLst>
          </a:prstGeom>
          <a:solidFill>
            <a:srgbClr val="162447"/>
          </a:solidFill>
          <a:ln/>
        </p:spPr>
        <p:txBody>
          <a:bodyPr/>
          <a:lstStyle/>
          <a:p>
            <a:endParaRPr lang="en-GB"/>
          </a:p>
        </p:txBody>
      </p:sp>
      <p:sp>
        <p:nvSpPr>
          <p:cNvPr id="16" name="Text 12"/>
          <p:cNvSpPr/>
          <p:nvPr/>
        </p:nvSpPr>
        <p:spPr>
          <a:xfrm>
            <a:off x="6583680" y="3200400"/>
            <a:ext cx="498348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RECOMMENDATION</a:t>
            </a:r>
            <a:endParaRPr lang="en-US" sz="1200" dirty="0"/>
          </a:p>
        </p:txBody>
      </p:sp>
      <p:sp>
        <p:nvSpPr>
          <p:cNvPr id="17" name="Text 13"/>
          <p:cNvSpPr/>
          <p:nvPr/>
        </p:nvSpPr>
        <p:spPr>
          <a:xfrm>
            <a:off x="6446520" y="3584448"/>
            <a:ext cx="5288280" cy="2706624"/>
          </a:xfrm>
          <a:prstGeom prst="rect">
            <a:avLst/>
          </a:prstGeom>
          <a:noFill/>
          <a:ln/>
        </p:spPr>
        <p:txBody>
          <a:bodyPr wrap="square" rtlCol="0" anchor="t"/>
          <a:lstStyle/>
          <a:p>
            <a:pPr>
              <a:lnSpc>
                <a:spcPct val="115000"/>
              </a:lnSpc>
            </a:pPr>
            <a:r>
              <a:rPr lang="en-GB" sz="1600" dirty="0"/>
              <a:t>Focus retention efforts on month-to-month customers and those using Electronic Check or Mailed Check, as they represent the highest churn risk. Encourage longer-term contracts through loyalty incentives and discounts, while promoting automatic payment methods, payment reminders, and targeted engagement campaigns to improve customer retention.</a:t>
            </a:r>
            <a:endParaRPr lang="en-US" sz="1600" dirty="0">
              <a:solidFill>
                <a:schemeClr val="tx2">
                  <a:lumMod val="50000"/>
                </a:schemeClr>
              </a:solidFill>
            </a:endParaRPr>
          </a:p>
        </p:txBody>
      </p:sp>
      <p:sp>
        <p:nvSpPr>
          <p:cNvPr id="18" name="Text 14"/>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C6B7A"/>
                </a:solidFill>
                <a:latin typeface="Calibri" pitchFamily="34" charset="0"/>
                <a:ea typeface="Calibri" pitchFamily="34" charset="-122"/>
                <a:cs typeface="Calibri" pitchFamily="34" charset="-120"/>
              </a:rPr>
              <a:t>Customer Churn Analysis  |  Group 3</a:t>
            </a:r>
            <a:endParaRPr lang="en-US" sz="900" dirty="0"/>
          </a:p>
        </p:txBody>
      </p:sp>
      <p:sp>
        <p:nvSpPr>
          <p:cNvPr id="19" name="Text 15"/>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48431C0-F2AA-3045-92DE-CB8F48640EF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810A62A-CDD1-17D5-52DF-EF71BB1F1596}"/>
              </a:ext>
            </a:extLst>
          </p:cNvPr>
          <p:cNvSpPr/>
          <p:nvPr/>
        </p:nvSpPr>
        <p:spPr>
          <a:xfrm>
            <a:off x="563880" y="162105"/>
            <a:ext cx="11064240" cy="594360"/>
          </a:xfrm>
          <a:prstGeom prst="rect">
            <a:avLst/>
          </a:prstGeom>
          <a:noFill/>
          <a:ln/>
        </p:spPr>
        <p:txBody>
          <a:bodyPr wrap="square" rtlCol="0" anchor="ctr"/>
          <a:lstStyle/>
          <a:p>
            <a:pPr marL="0" indent="0">
              <a:buNone/>
            </a:pPr>
            <a:r>
              <a:rPr lang="en-US" sz="2800" b="1" dirty="0">
                <a:solidFill>
                  <a:srgbClr val="162447"/>
                </a:solidFill>
                <a:latin typeface="Cambria" pitchFamily="34" charset="0"/>
                <a:ea typeface="Cambria" pitchFamily="34" charset="-122"/>
                <a:cs typeface="Cambria" pitchFamily="34" charset="-120"/>
              </a:rPr>
              <a:t>What Keeps Customers Loyal</a:t>
            </a:r>
            <a:endParaRPr lang="en-US" sz="2800" dirty="0"/>
          </a:p>
        </p:txBody>
      </p:sp>
      <p:sp>
        <p:nvSpPr>
          <p:cNvPr id="12" name="Text 9">
            <a:extLst>
              <a:ext uri="{FF2B5EF4-FFF2-40B4-BE49-F238E27FC236}">
                <a16:creationId xmlns:a16="http://schemas.microsoft.com/office/drawing/2014/main" id="{314903D0-AEB7-5129-25B3-6AB331E93991}"/>
              </a:ext>
            </a:extLst>
          </p:cNvPr>
          <p:cNvSpPr/>
          <p:nvPr/>
        </p:nvSpPr>
        <p:spPr>
          <a:xfrm>
            <a:off x="-64812" y="6675120"/>
            <a:ext cx="7315200" cy="274320"/>
          </a:xfrm>
          <a:prstGeom prst="rect">
            <a:avLst/>
          </a:prstGeom>
          <a:noFill/>
          <a:ln/>
        </p:spPr>
        <p:txBody>
          <a:bodyPr wrap="square" rtlCol="0" anchor="ctr"/>
          <a:lstStyle/>
          <a:p>
            <a:pPr marL="0" indent="0">
              <a:buNone/>
            </a:pPr>
            <a:r>
              <a:rPr lang="en-US" sz="900" dirty="0">
                <a:solidFill>
                  <a:srgbClr val="5C6B7A"/>
                </a:solidFill>
                <a:latin typeface="Calibri" pitchFamily="34" charset="0"/>
                <a:ea typeface="Calibri" pitchFamily="34" charset="-122"/>
                <a:cs typeface="Calibri" pitchFamily="34" charset="-120"/>
              </a:rPr>
              <a:t>Customer Churn Analysis  |  Group 3</a:t>
            </a:r>
            <a:endParaRPr lang="en-US" sz="900" dirty="0"/>
          </a:p>
        </p:txBody>
      </p:sp>
      <p:sp>
        <p:nvSpPr>
          <p:cNvPr id="13" name="Text 10">
            <a:extLst>
              <a:ext uri="{FF2B5EF4-FFF2-40B4-BE49-F238E27FC236}">
                <a16:creationId xmlns:a16="http://schemas.microsoft.com/office/drawing/2014/main" id="{92103F4D-8F1F-512A-4FCE-7390AD8B4456}"/>
              </a:ext>
            </a:extLst>
          </p:cNvPr>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5</a:t>
            </a:r>
            <a:endParaRPr lang="en-US" sz="900" dirty="0"/>
          </a:p>
        </p:txBody>
      </p:sp>
      <p:sp>
        <p:nvSpPr>
          <p:cNvPr id="19" name="Text 0">
            <a:extLst>
              <a:ext uri="{FF2B5EF4-FFF2-40B4-BE49-F238E27FC236}">
                <a16:creationId xmlns:a16="http://schemas.microsoft.com/office/drawing/2014/main" id="{BD1ED030-3CF1-1F6B-4B90-B36C1CF270F0}"/>
              </a:ext>
            </a:extLst>
          </p:cNvPr>
          <p:cNvSpPr/>
          <p:nvPr/>
        </p:nvSpPr>
        <p:spPr>
          <a:xfrm>
            <a:off x="447339" y="24945"/>
            <a:ext cx="9144000" cy="274320"/>
          </a:xfrm>
          <a:prstGeom prst="rect">
            <a:avLst/>
          </a:prstGeom>
          <a:noFill/>
          <a:ln/>
        </p:spPr>
        <p:txBody>
          <a:bodyPr wrap="square" rtlCol="0" anchor="ctr"/>
          <a:lstStyle/>
          <a:p>
            <a:pPr marL="0" indent="0">
              <a:buNone/>
            </a:pPr>
            <a:r>
              <a:rPr lang="en-US" sz="1600" b="1" kern="0" spc="200" dirty="0">
                <a:solidFill>
                  <a:schemeClr val="tx2">
                    <a:lumMod val="75000"/>
                  </a:schemeClr>
                </a:solidFill>
                <a:latin typeface="Calibri" pitchFamily="34" charset="0"/>
                <a:ea typeface="Calibri" pitchFamily="34" charset="-122"/>
                <a:cs typeface="Calibri" pitchFamily="34" charset="-120"/>
              </a:rPr>
              <a:t>SERVICE ANALYSIS</a:t>
            </a:r>
            <a:endParaRPr lang="en-US" sz="1600" dirty="0">
              <a:solidFill>
                <a:schemeClr val="tx2">
                  <a:lumMod val="75000"/>
                </a:schemeClr>
              </a:solidFill>
            </a:endParaRPr>
          </a:p>
        </p:txBody>
      </p:sp>
      <p:pic>
        <p:nvPicPr>
          <p:cNvPr id="5" name="Picture 4">
            <a:extLst>
              <a:ext uri="{FF2B5EF4-FFF2-40B4-BE49-F238E27FC236}">
                <a16:creationId xmlns:a16="http://schemas.microsoft.com/office/drawing/2014/main" id="{8EB8AA6D-FADE-D0E8-A424-3105F7E30B1F}"/>
              </a:ext>
            </a:extLst>
          </p:cNvPr>
          <p:cNvPicPr>
            <a:picLocks noChangeAspect="1"/>
          </p:cNvPicPr>
          <p:nvPr/>
        </p:nvPicPr>
        <p:blipFill>
          <a:blip r:embed="rId3"/>
          <a:stretch>
            <a:fillRect/>
          </a:stretch>
        </p:blipFill>
        <p:spPr>
          <a:xfrm>
            <a:off x="911914" y="687221"/>
            <a:ext cx="9705884" cy="6057143"/>
          </a:xfrm>
          <a:prstGeom prst="rect">
            <a:avLst/>
          </a:prstGeom>
        </p:spPr>
      </p:pic>
    </p:spTree>
    <p:extLst>
      <p:ext uri="{BB962C8B-B14F-4D97-AF65-F5344CB8AC3E}">
        <p14:creationId xmlns:p14="http://schemas.microsoft.com/office/powerpoint/2010/main" val="1906112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5" name="Shape 2"/>
          <p:cNvSpPr/>
          <p:nvPr/>
        </p:nvSpPr>
        <p:spPr>
          <a:xfrm>
            <a:off x="457200" y="121896"/>
            <a:ext cx="2753958" cy="602384"/>
          </a:xfrm>
          <a:prstGeom prst="roundRect">
            <a:avLst>
              <a:gd name="adj" fmla="val 1839"/>
            </a:avLst>
          </a:prstGeom>
          <a:solidFill>
            <a:srgbClr val="E9EEF5"/>
          </a:solidFill>
          <a:ln w="12700">
            <a:solidFill>
              <a:srgbClr val="D7DEE7"/>
            </a:solidFill>
            <a:prstDash val="solid"/>
          </a:ln>
        </p:spPr>
        <p:txBody>
          <a:bodyPr/>
          <a:lstStyle/>
          <a:p>
            <a:endParaRPr lang="en-GB" dirty="0"/>
          </a:p>
        </p:txBody>
      </p:sp>
      <p:sp>
        <p:nvSpPr>
          <p:cNvPr id="7" name="Text 4"/>
          <p:cNvSpPr/>
          <p:nvPr/>
        </p:nvSpPr>
        <p:spPr>
          <a:xfrm>
            <a:off x="7543800" y="1920240"/>
            <a:ext cx="3931920" cy="731520"/>
          </a:xfrm>
          <a:prstGeom prst="rect">
            <a:avLst/>
          </a:prstGeom>
          <a:noFill/>
          <a:ln/>
        </p:spPr>
        <p:txBody>
          <a:bodyPr wrap="square" rtlCol="0" anchor="t"/>
          <a:lstStyle/>
          <a:p>
            <a:pPr marL="0" indent="0">
              <a:lnSpc>
                <a:spcPct val="120000"/>
              </a:lnSpc>
              <a:buNone/>
            </a:pPr>
            <a:endParaRPr lang="en-US" sz="2200" dirty="0"/>
          </a:p>
        </p:txBody>
      </p:sp>
      <p:sp>
        <p:nvSpPr>
          <p:cNvPr id="11" name="Text 8"/>
          <p:cNvSpPr/>
          <p:nvPr/>
        </p:nvSpPr>
        <p:spPr>
          <a:xfrm>
            <a:off x="716280" y="5243089"/>
            <a:ext cx="8373932" cy="1554480"/>
          </a:xfrm>
          <a:prstGeom prst="rect">
            <a:avLst/>
          </a:prstGeom>
          <a:noFill/>
          <a:ln/>
        </p:spPr>
        <p:txBody>
          <a:bodyPr wrap="square" rtlCol="0" anchor="t"/>
          <a:lstStyle/>
          <a:p>
            <a:pPr marL="0" indent="0">
              <a:lnSpc>
                <a:spcPct val="150000"/>
              </a:lnSpc>
              <a:buNone/>
            </a:pPr>
            <a:r>
              <a:rPr lang="en-US" sz="1600" dirty="0">
                <a:solidFill>
                  <a:srgbClr val="1B2430"/>
                </a:solidFill>
                <a:latin typeface="Calibri" pitchFamily="34" charset="0"/>
                <a:ea typeface="Calibri" pitchFamily="34" charset="-122"/>
                <a:cs typeface="Calibri" pitchFamily="34" charset="-120"/>
              </a:rPr>
              <a:t>Bundle Online Security, Tech Support and Backup as a default 'Protection Package' for fiber customers rather than opt-in extras as each add-on roughly halves churn risk.</a:t>
            </a:r>
            <a:endParaRPr lang="en-US" sz="1600" dirty="0"/>
          </a:p>
        </p:txBody>
      </p:sp>
      <p:sp>
        <p:nvSpPr>
          <p:cNvPr id="12" name="Text 9"/>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C6B7A"/>
                </a:solidFill>
                <a:latin typeface="Calibri" pitchFamily="34" charset="0"/>
                <a:ea typeface="Calibri" pitchFamily="34" charset="-122"/>
                <a:cs typeface="Calibri" pitchFamily="34" charset="-120"/>
              </a:rPr>
              <a:t>Customer Churn Analysis  |  Group 3</a:t>
            </a:r>
            <a:endParaRPr lang="en-US" sz="900" dirty="0"/>
          </a:p>
        </p:txBody>
      </p:sp>
      <p:sp>
        <p:nvSpPr>
          <p:cNvPr id="13"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5</a:t>
            </a:r>
            <a:endParaRPr lang="en-US" sz="900" dirty="0"/>
          </a:p>
        </p:txBody>
      </p:sp>
      <p:sp>
        <p:nvSpPr>
          <p:cNvPr id="14" name="TextBox 13">
            <a:extLst>
              <a:ext uri="{FF2B5EF4-FFF2-40B4-BE49-F238E27FC236}">
                <a16:creationId xmlns:a16="http://schemas.microsoft.com/office/drawing/2014/main" id="{AD4D929F-D488-5306-8F0A-7BA07E66553C}"/>
              </a:ext>
            </a:extLst>
          </p:cNvPr>
          <p:cNvSpPr txBox="1"/>
          <p:nvPr/>
        </p:nvSpPr>
        <p:spPr>
          <a:xfrm>
            <a:off x="716280" y="1852195"/>
            <a:ext cx="10655389" cy="3170099"/>
          </a:xfrm>
          <a:prstGeom prst="rect">
            <a:avLst/>
          </a:prstGeom>
          <a:noFill/>
        </p:spPr>
        <p:txBody>
          <a:bodyPr wrap="square" rtlCol="0">
            <a:spAutoFit/>
          </a:bodyPr>
          <a:lstStyle/>
          <a:p>
            <a:pPr>
              <a:lnSpc>
                <a:spcPct val="200000"/>
              </a:lnSpc>
            </a:pPr>
            <a:r>
              <a:rPr lang="en-GB" sz="1600" dirty="0">
                <a:solidFill>
                  <a:schemeClr val="tx2">
                    <a:lumMod val="50000"/>
                  </a:schemeClr>
                </a:solidFill>
              </a:rPr>
              <a:t>Fiber optic customers are churning at more than twice the rate of DSL customers, and account for 69.4% of everyone who left  despite fiber being the company's premium offering. This suggests that while fiber is the company's premium, higher-revenue offering, it is also its highest-risk segment  likely driven by higher price points, elevated service expectations, and stronger competitive alternatives for high-speed internet.</a:t>
            </a:r>
          </a:p>
          <a:p>
            <a:pPr>
              <a:lnSpc>
                <a:spcPct val="200000"/>
              </a:lnSpc>
            </a:pPr>
            <a:r>
              <a:rPr lang="en-US" sz="1600" dirty="0">
                <a:solidFill>
                  <a:schemeClr val="tx2">
                    <a:lumMod val="50000"/>
                  </a:schemeClr>
                </a:solidFill>
                <a:latin typeface="Calibri" pitchFamily="34" charset="0"/>
                <a:ea typeface="Calibri" pitchFamily="34" charset="-122"/>
                <a:cs typeface="Calibri" pitchFamily="34" charset="-120"/>
              </a:rPr>
              <a:t>Customers without online security make up 78.17% of all churned customers ( the largest single service gap in the data</a:t>
            </a:r>
            <a:r>
              <a:rPr lang="en-US" sz="1200" dirty="0">
                <a:solidFill>
                  <a:schemeClr val="tx2">
                    <a:lumMod val="50000"/>
                  </a:schemeClr>
                </a:solidFill>
                <a:latin typeface="Calibri" pitchFamily="34" charset="0"/>
                <a:ea typeface="Calibri" pitchFamily="34" charset="-122"/>
                <a:cs typeface="Calibri" pitchFamily="34" charset="-120"/>
              </a:rPr>
              <a:t>.)</a:t>
            </a:r>
            <a:endParaRPr lang="en-US" sz="1300" dirty="0">
              <a:solidFill>
                <a:schemeClr val="tx2">
                  <a:lumMod val="50000"/>
                </a:schemeClr>
              </a:solidFill>
            </a:endParaRPr>
          </a:p>
          <a:p>
            <a:pPr>
              <a:lnSpc>
                <a:spcPct val="150000"/>
              </a:lnSpc>
            </a:pPr>
            <a:endParaRPr lang="en-GB" sz="1600" dirty="0">
              <a:solidFill>
                <a:schemeClr val="tx2">
                  <a:lumMod val="50000"/>
                </a:schemeClr>
              </a:solidFill>
            </a:endParaRPr>
          </a:p>
          <a:p>
            <a:endParaRPr lang="en-GB" sz="1600" dirty="0"/>
          </a:p>
        </p:txBody>
      </p:sp>
      <p:sp>
        <p:nvSpPr>
          <p:cNvPr id="16" name="Shape 8">
            <a:extLst>
              <a:ext uri="{FF2B5EF4-FFF2-40B4-BE49-F238E27FC236}">
                <a16:creationId xmlns:a16="http://schemas.microsoft.com/office/drawing/2014/main" id="{AFFCD03F-C7E0-756A-3F7B-E6ABE287E63C}"/>
              </a:ext>
            </a:extLst>
          </p:cNvPr>
          <p:cNvSpPr/>
          <p:nvPr/>
        </p:nvSpPr>
        <p:spPr>
          <a:xfrm>
            <a:off x="716281" y="1526311"/>
            <a:ext cx="5257800" cy="320040"/>
          </a:xfrm>
          <a:prstGeom prst="roundRect">
            <a:avLst>
              <a:gd name="adj" fmla="val 17143"/>
            </a:avLst>
          </a:prstGeom>
          <a:solidFill>
            <a:srgbClr val="162447"/>
          </a:solidFill>
          <a:ln/>
        </p:spPr>
        <p:txBody>
          <a:bodyPr/>
          <a:lstStyle/>
          <a:p>
            <a:endParaRPr lang="en-GB"/>
          </a:p>
        </p:txBody>
      </p:sp>
      <p:sp>
        <p:nvSpPr>
          <p:cNvPr id="18" name="Text 9">
            <a:extLst>
              <a:ext uri="{FF2B5EF4-FFF2-40B4-BE49-F238E27FC236}">
                <a16:creationId xmlns:a16="http://schemas.microsoft.com/office/drawing/2014/main" id="{78FDFE0C-4385-A467-A8A9-51E236F923BA}"/>
              </a:ext>
            </a:extLst>
          </p:cNvPr>
          <p:cNvSpPr/>
          <p:nvPr/>
        </p:nvSpPr>
        <p:spPr>
          <a:xfrm>
            <a:off x="853441" y="1526311"/>
            <a:ext cx="498348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INSIGHT</a:t>
            </a:r>
            <a:endParaRPr lang="en-US" sz="1200" dirty="0"/>
          </a:p>
        </p:txBody>
      </p:sp>
      <p:sp>
        <p:nvSpPr>
          <p:cNvPr id="20" name="Text 1">
            <a:extLst>
              <a:ext uri="{FF2B5EF4-FFF2-40B4-BE49-F238E27FC236}">
                <a16:creationId xmlns:a16="http://schemas.microsoft.com/office/drawing/2014/main" id="{AD2078F9-C5C9-6567-0FD9-340FEFF85163}"/>
              </a:ext>
            </a:extLst>
          </p:cNvPr>
          <p:cNvSpPr/>
          <p:nvPr/>
        </p:nvSpPr>
        <p:spPr>
          <a:xfrm>
            <a:off x="640080" y="696554"/>
            <a:ext cx="11064240" cy="594360"/>
          </a:xfrm>
          <a:prstGeom prst="rect">
            <a:avLst/>
          </a:prstGeom>
          <a:noFill/>
          <a:ln/>
        </p:spPr>
        <p:txBody>
          <a:bodyPr wrap="square" rtlCol="0" anchor="ctr"/>
          <a:lstStyle/>
          <a:p>
            <a:pPr marL="0" indent="0">
              <a:buNone/>
            </a:pPr>
            <a:r>
              <a:rPr lang="en-US" sz="2800" b="1" dirty="0">
                <a:solidFill>
                  <a:srgbClr val="162447"/>
                </a:solidFill>
                <a:latin typeface="Cambria" pitchFamily="34" charset="0"/>
                <a:ea typeface="Cambria" pitchFamily="34" charset="-122"/>
                <a:cs typeface="Cambria" pitchFamily="34" charset="-120"/>
              </a:rPr>
              <a:t>What Keeps Customers Loyal</a:t>
            </a:r>
            <a:endParaRPr lang="en-US" sz="2800" dirty="0"/>
          </a:p>
        </p:txBody>
      </p:sp>
      <p:sp>
        <p:nvSpPr>
          <p:cNvPr id="22" name="Text 0">
            <a:extLst>
              <a:ext uri="{FF2B5EF4-FFF2-40B4-BE49-F238E27FC236}">
                <a16:creationId xmlns:a16="http://schemas.microsoft.com/office/drawing/2014/main" id="{42D5C89E-B77E-5F0A-5C36-7A69B2C5C8C5}"/>
              </a:ext>
            </a:extLst>
          </p:cNvPr>
          <p:cNvSpPr/>
          <p:nvPr/>
        </p:nvSpPr>
        <p:spPr>
          <a:xfrm>
            <a:off x="716280" y="320040"/>
            <a:ext cx="9144000" cy="274320"/>
          </a:xfrm>
          <a:prstGeom prst="rect">
            <a:avLst/>
          </a:prstGeom>
          <a:noFill/>
          <a:ln/>
        </p:spPr>
        <p:txBody>
          <a:bodyPr wrap="square" rtlCol="0" anchor="ctr"/>
          <a:lstStyle/>
          <a:p>
            <a:pPr marL="0" indent="0">
              <a:buNone/>
            </a:pPr>
            <a:r>
              <a:rPr lang="en-US" sz="1600" b="1" kern="0" spc="200" dirty="0">
                <a:solidFill>
                  <a:schemeClr val="tx2">
                    <a:lumMod val="75000"/>
                  </a:schemeClr>
                </a:solidFill>
                <a:latin typeface="Calibri" pitchFamily="34" charset="0"/>
                <a:ea typeface="Calibri" pitchFamily="34" charset="-122"/>
                <a:cs typeface="Calibri" pitchFamily="34" charset="-120"/>
              </a:rPr>
              <a:t>SERVICE ANALYSIS</a:t>
            </a:r>
            <a:endParaRPr lang="en-US" sz="1600" dirty="0">
              <a:solidFill>
                <a:schemeClr val="tx2">
                  <a:lumMod val="75000"/>
                </a:schemeClr>
              </a:solidFill>
            </a:endParaRPr>
          </a:p>
        </p:txBody>
      </p:sp>
      <p:sp>
        <p:nvSpPr>
          <p:cNvPr id="26" name="Shape 11">
            <a:extLst>
              <a:ext uri="{FF2B5EF4-FFF2-40B4-BE49-F238E27FC236}">
                <a16:creationId xmlns:a16="http://schemas.microsoft.com/office/drawing/2014/main" id="{48732A15-F628-7EC0-73B6-29751C1465F4}"/>
              </a:ext>
            </a:extLst>
          </p:cNvPr>
          <p:cNvSpPr/>
          <p:nvPr/>
        </p:nvSpPr>
        <p:spPr>
          <a:xfrm>
            <a:off x="716281" y="4687652"/>
            <a:ext cx="5810024" cy="320040"/>
          </a:xfrm>
          <a:prstGeom prst="roundRect">
            <a:avLst>
              <a:gd name="adj" fmla="val 17143"/>
            </a:avLst>
          </a:prstGeom>
          <a:solidFill>
            <a:srgbClr val="162447"/>
          </a:solidFill>
          <a:ln/>
        </p:spPr>
        <p:txBody>
          <a:bodyPr/>
          <a:lstStyle/>
          <a:p>
            <a:endParaRPr lang="en-GB"/>
          </a:p>
        </p:txBody>
      </p:sp>
      <p:sp>
        <p:nvSpPr>
          <p:cNvPr id="28" name="Text 12">
            <a:extLst>
              <a:ext uri="{FF2B5EF4-FFF2-40B4-BE49-F238E27FC236}">
                <a16:creationId xmlns:a16="http://schemas.microsoft.com/office/drawing/2014/main" id="{441F203A-55B2-826E-2EF7-E9CB5E919767}"/>
              </a:ext>
            </a:extLst>
          </p:cNvPr>
          <p:cNvSpPr/>
          <p:nvPr/>
        </p:nvSpPr>
        <p:spPr>
          <a:xfrm>
            <a:off x="867847" y="4687652"/>
            <a:ext cx="5506892"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RECOMMENDATION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EF5"/>
        </a:solidFill>
        <a:effectLst/>
      </p:bgPr>
    </p:bg>
    <p:spTree>
      <p:nvGrpSpPr>
        <p:cNvPr id="1" name="">
          <a:extLst>
            <a:ext uri="{FF2B5EF4-FFF2-40B4-BE49-F238E27FC236}">
              <a16:creationId xmlns:a16="http://schemas.microsoft.com/office/drawing/2014/main" id="{9A7343BD-D799-880C-CFE1-8E0E6284D2F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196965A-4BFA-02E6-954B-2876DB87EDAE}"/>
              </a:ext>
            </a:extLst>
          </p:cNvPr>
          <p:cNvSpPr/>
          <p:nvPr/>
        </p:nvSpPr>
        <p:spPr>
          <a:xfrm>
            <a:off x="548640" y="210850"/>
            <a:ext cx="9144000" cy="274320"/>
          </a:xfrm>
          <a:prstGeom prst="rect">
            <a:avLst/>
          </a:prstGeom>
          <a:noFill/>
          <a:ln/>
        </p:spPr>
        <p:txBody>
          <a:bodyPr wrap="square" rtlCol="0" anchor="ctr"/>
          <a:lstStyle/>
          <a:p>
            <a:pPr marL="0" indent="0">
              <a:buNone/>
            </a:pPr>
            <a:r>
              <a:rPr lang="en-US" sz="1400" b="1" kern="0" spc="200" dirty="0">
                <a:solidFill>
                  <a:schemeClr val="accent1">
                    <a:lumMod val="50000"/>
                  </a:schemeClr>
                </a:solidFill>
                <a:latin typeface="Calibri" pitchFamily="34" charset="0"/>
                <a:ea typeface="Calibri" pitchFamily="34" charset="-122"/>
                <a:cs typeface="Calibri" pitchFamily="34" charset="-120"/>
              </a:rPr>
              <a:t>FINANCIAL IMPACT</a:t>
            </a:r>
            <a:endParaRPr lang="en-US" sz="1400" dirty="0">
              <a:solidFill>
                <a:schemeClr val="accent1">
                  <a:lumMod val="50000"/>
                </a:schemeClr>
              </a:solidFill>
            </a:endParaRPr>
          </a:p>
        </p:txBody>
      </p:sp>
      <p:sp>
        <p:nvSpPr>
          <p:cNvPr id="3" name="Text 1">
            <a:extLst>
              <a:ext uri="{FF2B5EF4-FFF2-40B4-BE49-F238E27FC236}">
                <a16:creationId xmlns:a16="http://schemas.microsoft.com/office/drawing/2014/main" id="{B4A5B7C8-C013-A13B-3F68-93B7690A6457}"/>
              </a:ext>
            </a:extLst>
          </p:cNvPr>
          <p:cNvSpPr/>
          <p:nvPr/>
        </p:nvSpPr>
        <p:spPr>
          <a:xfrm>
            <a:off x="548640" y="566928"/>
            <a:ext cx="11064240" cy="594360"/>
          </a:xfrm>
          <a:prstGeom prst="rect">
            <a:avLst/>
          </a:prstGeom>
          <a:noFill/>
          <a:ln/>
        </p:spPr>
        <p:txBody>
          <a:bodyPr wrap="square" rtlCol="0" anchor="ctr"/>
          <a:lstStyle/>
          <a:p>
            <a:pPr marL="0" indent="0">
              <a:buNone/>
            </a:pPr>
            <a:r>
              <a:rPr lang="en-US" sz="2800" b="1" dirty="0">
                <a:solidFill>
                  <a:srgbClr val="162447"/>
                </a:solidFill>
                <a:latin typeface="Cambria" pitchFamily="34" charset="0"/>
                <a:ea typeface="Cambria" pitchFamily="34" charset="-122"/>
                <a:cs typeface="Cambria" pitchFamily="34" charset="-120"/>
              </a:rPr>
              <a:t>What Churn Is Actually Costing Us</a:t>
            </a:r>
            <a:endParaRPr lang="en-US" sz="2800" dirty="0"/>
          </a:p>
        </p:txBody>
      </p:sp>
      <p:sp>
        <p:nvSpPr>
          <p:cNvPr id="4" name="Shape 2">
            <a:extLst>
              <a:ext uri="{FF2B5EF4-FFF2-40B4-BE49-F238E27FC236}">
                <a16:creationId xmlns:a16="http://schemas.microsoft.com/office/drawing/2014/main" id="{63050841-58A3-2457-3320-23AF4870F095}"/>
              </a:ext>
            </a:extLst>
          </p:cNvPr>
          <p:cNvSpPr/>
          <p:nvPr/>
        </p:nvSpPr>
        <p:spPr>
          <a:xfrm>
            <a:off x="548640" y="1188720"/>
            <a:ext cx="2606040" cy="1051560"/>
          </a:xfrm>
          <a:prstGeom prst="roundRect">
            <a:avLst>
              <a:gd name="adj" fmla="val 6957"/>
            </a:avLst>
          </a:prstGeom>
          <a:solidFill>
            <a:srgbClr val="FFFFFF"/>
          </a:solidFill>
          <a:ln w="12700">
            <a:solidFill>
              <a:srgbClr val="D7DEE7"/>
            </a:solidFill>
            <a:prstDash val="solid"/>
          </a:ln>
          <a:effectLst>
            <a:outerShdw blurRad="76200" dist="25400" dir="5400000" algn="bl" rotWithShape="0">
              <a:srgbClr val="9AA5B1">
                <a:alpha val="25000"/>
              </a:srgbClr>
            </a:outerShdw>
          </a:effectLst>
        </p:spPr>
        <p:txBody>
          <a:bodyPr/>
          <a:lstStyle/>
          <a:p>
            <a:endParaRPr lang="en-GB"/>
          </a:p>
        </p:txBody>
      </p:sp>
      <p:sp>
        <p:nvSpPr>
          <p:cNvPr id="5" name="Text 3">
            <a:extLst>
              <a:ext uri="{FF2B5EF4-FFF2-40B4-BE49-F238E27FC236}">
                <a16:creationId xmlns:a16="http://schemas.microsoft.com/office/drawing/2014/main" id="{13073C70-FFF0-0989-B265-16C132D574F9}"/>
              </a:ext>
            </a:extLst>
          </p:cNvPr>
          <p:cNvSpPr/>
          <p:nvPr/>
        </p:nvSpPr>
        <p:spPr>
          <a:xfrm>
            <a:off x="640080" y="1298448"/>
            <a:ext cx="2423160" cy="578358"/>
          </a:xfrm>
          <a:prstGeom prst="rect">
            <a:avLst/>
          </a:prstGeom>
          <a:noFill/>
          <a:ln/>
        </p:spPr>
        <p:txBody>
          <a:bodyPr wrap="square" rtlCol="0" anchor="b"/>
          <a:lstStyle/>
          <a:p>
            <a:pPr marL="0" indent="0" algn="ctr">
              <a:buNone/>
            </a:pPr>
            <a:r>
              <a:rPr lang="en-US" sz="2400" b="1" dirty="0">
                <a:solidFill>
                  <a:srgbClr val="162447"/>
                </a:solidFill>
                <a:latin typeface="Cambria" pitchFamily="34" charset="0"/>
                <a:ea typeface="Cambria" pitchFamily="34" charset="-122"/>
                <a:cs typeface="Cambria" pitchFamily="34" charset="-120"/>
              </a:rPr>
              <a:t>$16.06M</a:t>
            </a:r>
            <a:endParaRPr lang="en-US" sz="2400" dirty="0"/>
          </a:p>
        </p:txBody>
      </p:sp>
      <p:sp>
        <p:nvSpPr>
          <p:cNvPr id="6" name="Text 4">
            <a:extLst>
              <a:ext uri="{FF2B5EF4-FFF2-40B4-BE49-F238E27FC236}">
                <a16:creationId xmlns:a16="http://schemas.microsoft.com/office/drawing/2014/main" id="{5E182F88-3323-C141-4A09-2B6A30442A57}"/>
              </a:ext>
            </a:extLst>
          </p:cNvPr>
          <p:cNvSpPr/>
          <p:nvPr/>
        </p:nvSpPr>
        <p:spPr>
          <a:xfrm>
            <a:off x="640080" y="1840687"/>
            <a:ext cx="2423160" cy="368046"/>
          </a:xfrm>
          <a:prstGeom prst="rect">
            <a:avLst/>
          </a:prstGeom>
          <a:noFill/>
          <a:ln/>
        </p:spPr>
        <p:txBody>
          <a:bodyPr wrap="square" rtlCol="0" anchor="t"/>
          <a:lstStyle/>
          <a:p>
            <a:pPr marL="0" indent="0" algn="ctr">
              <a:buNone/>
            </a:pPr>
            <a:r>
              <a:rPr lang="en-US" sz="1300" dirty="0">
                <a:solidFill>
                  <a:srgbClr val="162447"/>
                </a:solidFill>
                <a:latin typeface="Calibri" pitchFamily="34" charset="0"/>
                <a:ea typeface="Calibri" pitchFamily="34" charset="-122"/>
                <a:cs typeface="Calibri" pitchFamily="34" charset="-120"/>
              </a:rPr>
              <a:t>Total Revenue</a:t>
            </a:r>
            <a:endParaRPr lang="en-US" sz="1300" dirty="0">
              <a:solidFill>
                <a:srgbClr val="162447"/>
              </a:solidFill>
            </a:endParaRPr>
          </a:p>
        </p:txBody>
      </p:sp>
      <p:sp>
        <p:nvSpPr>
          <p:cNvPr id="7" name="Shape 5">
            <a:extLst>
              <a:ext uri="{FF2B5EF4-FFF2-40B4-BE49-F238E27FC236}">
                <a16:creationId xmlns:a16="http://schemas.microsoft.com/office/drawing/2014/main" id="{45C18839-1BD0-ECD4-3540-F7D2AA8B19B4}"/>
              </a:ext>
            </a:extLst>
          </p:cNvPr>
          <p:cNvSpPr/>
          <p:nvPr/>
        </p:nvSpPr>
        <p:spPr>
          <a:xfrm>
            <a:off x="3355848" y="1188720"/>
            <a:ext cx="2606040" cy="1051560"/>
          </a:xfrm>
          <a:prstGeom prst="roundRect">
            <a:avLst>
              <a:gd name="adj" fmla="val 6957"/>
            </a:avLst>
          </a:prstGeom>
          <a:solidFill>
            <a:srgbClr val="FFFFFF"/>
          </a:solidFill>
          <a:ln w="12700">
            <a:solidFill>
              <a:srgbClr val="D7DEE7"/>
            </a:solidFill>
            <a:prstDash val="solid"/>
          </a:ln>
          <a:effectLst>
            <a:outerShdw blurRad="76200" dist="25400" dir="5400000" algn="bl" rotWithShape="0">
              <a:srgbClr val="9AA5B1">
                <a:alpha val="25000"/>
              </a:srgbClr>
            </a:outerShdw>
          </a:effectLst>
        </p:spPr>
        <p:txBody>
          <a:bodyPr/>
          <a:lstStyle/>
          <a:p>
            <a:endParaRPr lang="en-GB"/>
          </a:p>
        </p:txBody>
      </p:sp>
      <p:sp>
        <p:nvSpPr>
          <p:cNvPr id="8" name="Text 6">
            <a:extLst>
              <a:ext uri="{FF2B5EF4-FFF2-40B4-BE49-F238E27FC236}">
                <a16:creationId xmlns:a16="http://schemas.microsoft.com/office/drawing/2014/main" id="{D0083A15-5412-4DD5-8407-C6712BC2311E}"/>
              </a:ext>
            </a:extLst>
          </p:cNvPr>
          <p:cNvSpPr/>
          <p:nvPr/>
        </p:nvSpPr>
        <p:spPr>
          <a:xfrm>
            <a:off x="3447288" y="1298448"/>
            <a:ext cx="2423160" cy="578358"/>
          </a:xfrm>
          <a:prstGeom prst="rect">
            <a:avLst/>
          </a:prstGeom>
          <a:noFill/>
          <a:ln/>
        </p:spPr>
        <p:txBody>
          <a:bodyPr wrap="square" rtlCol="0" anchor="b"/>
          <a:lstStyle/>
          <a:p>
            <a:pPr marL="0" indent="0" algn="ctr">
              <a:buNone/>
            </a:pPr>
            <a:r>
              <a:rPr lang="en-US" sz="2400" b="1" dirty="0">
                <a:solidFill>
                  <a:srgbClr val="162447"/>
                </a:solidFill>
                <a:latin typeface="Cambria" pitchFamily="34" charset="0"/>
                <a:ea typeface="Cambria" pitchFamily="34" charset="-122"/>
                <a:cs typeface="Cambria" pitchFamily="34" charset="-120"/>
              </a:rPr>
              <a:t>$139.1K</a:t>
            </a:r>
            <a:endParaRPr lang="en-US" sz="2400" dirty="0">
              <a:solidFill>
                <a:srgbClr val="162447"/>
              </a:solidFill>
            </a:endParaRPr>
          </a:p>
        </p:txBody>
      </p:sp>
      <p:sp>
        <p:nvSpPr>
          <p:cNvPr id="9" name="Text 7">
            <a:extLst>
              <a:ext uri="{FF2B5EF4-FFF2-40B4-BE49-F238E27FC236}">
                <a16:creationId xmlns:a16="http://schemas.microsoft.com/office/drawing/2014/main" id="{26D5A38F-535C-6AD1-EF99-F41A6E9BB315}"/>
              </a:ext>
            </a:extLst>
          </p:cNvPr>
          <p:cNvSpPr/>
          <p:nvPr/>
        </p:nvSpPr>
        <p:spPr>
          <a:xfrm>
            <a:off x="3447288" y="1840687"/>
            <a:ext cx="2423160" cy="368046"/>
          </a:xfrm>
          <a:prstGeom prst="rect">
            <a:avLst/>
          </a:prstGeom>
          <a:noFill/>
          <a:ln/>
        </p:spPr>
        <p:txBody>
          <a:bodyPr wrap="square" rtlCol="0" anchor="t"/>
          <a:lstStyle/>
          <a:p>
            <a:pPr marL="0" indent="0" algn="ctr">
              <a:buNone/>
            </a:pPr>
            <a:r>
              <a:rPr lang="en-US" sz="1300" dirty="0">
                <a:solidFill>
                  <a:srgbClr val="162447"/>
                </a:solidFill>
                <a:latin typeface="Calibri" pitchFamily="34" charset="0"/>
                <a:ea typeface="Calibri" pitchFamily="34" charset="-122"/>
                <a:cs typeface="Calibri" pitchFamily="34" charset="-120"/>
              </a:rPr>
              <a:t>Monthly Revenue Lost</a:t>
            </a:r>
            <a:endParaRPr lang="en-US" sz="1300" dirty="0">
              <a:solidFill>
                <a:srgbClr val="162447"/>
              </a:solidFill>
            </a:endParaRPr>
          </a:p>
        </p:txBody>
      </p:sp>
      <p:sp>
        <p:nvSpPr>
          <p:cNvPr id="10" name="Shape 8">
            <a:extLst>
              <a:ext uri="{FF2B5EF4-FFF2-40B4-BE49-F238E27FC236}">
                <a16:creationId xmlns:a16="http://schemas.microsoft.com/office/drawing/2014/main" id="{BA92CD83-1ABC-5F25-A771-BE87EACA6773}"/>
              </a:ext>
            </a:extLst>
          </p:cNvPr>
          <p:cNvSpPr/>
          <p:nvPr/>
        </p:nvSpPr>
        <p:spPr>
          <a:xfrm>
            <a:off x="6163056" y="1188720"/>
            <a:ext cx="2606040" cy="1051560"/>
          </a:xfrm>
          <a:prstGeom prst="roundRect">
            <a:avLst>
              <a:gd name="adj" fmla="val 6957"/>
            </a:avLst>
          </a:prstGeom>
          <a:solidFill>
            <a:srgbClr val="FFFFFF"/>
          </a:solidFill>
          <a:ln w="12700">
            <a:solidFill>
              <a:srgbClr val="D7DEE7"/>
            </a:solidFill>
            <a:prstDash val="solid"/>
          </a:ln>
          <a:effectLst>
            <a:outerShdw blurRad="76200" dist="25400" dir="5400000" algn="bl" rotWithShape="0">
              <a:srgbClr val="9AA5B1">
                <a:alpha val="25000"/>
              </a:srgbClr>
            </a:outerShdw>
          </a:effectLst>
        </p:spPr>
        <p:txBody>
          <a:bodyPr/>
          <a:lstStyle/>
          <a:p>
            <a:endParaRPr lang="en-GB"/>
          </a:p>
        </p:txBody>
      </p:sp>
      <p:sp>
        <p:nvSpPr>
          <p:cNvPr id="11" name="Text 9">
            <a:extLst>
              <a:ext uri="{FF2B5EF4-FFF2-40B4-BE49-F238E27FC236}">
                <a16:creationId xmlns:a16="http://schemas.microsoft.com/office/drawing/2014/main" id="{D3F9CF83-B1BC-D8F9-A2A9-C3B67E13E1FC}"/>
              </a:ext>
            </a:extLst>
          </p:cNvPr>
          <p:cNvSpPr/>
          <p:nvPr/>
        </p:nvSpPr>
        <p:spPr>
          <a:xfrm>
            <a:off x="6254496" y="1298448"/>
            <a:ext cx="2423160" cy="578358"/>
          </a:xfrm>
          <a:prstGeom prst="rect">
            <a:avLst/>
          </a:prstGeom>
          <a:noFill/>
          <a:ln/>
        </p:spPr>
        <p:txBody>
          <a:bodyPr wrap="square" rtlCol="0" anchor="b"/>
          <a:lstStyle/>
          <a:p>
            <a:pPr marL="0" indent="0" algn="ctr">
              <a:buNone/>
            </a:pPr>
            <a:r>
              <a:rPr lang="en-US" sz="2400" b="1" dirty="0">
                <a:solidFill>
                  <a:srgbClr val="243152"/>
                </a:solidFill>
                <a:latin typeface="Cambria" pitchFamily="34" charset="0"/>
                <a:ea typeface="Cambria" pitchFamily="34" charset="-122"/>
                <a:cs typeface="Cambria" pitchFamily="34" charset="-120"/>
              </a:rPr>
              <a:t>$2.86M</a:t>
            </a:r>
            <a:endParaRPr lang="en-US" sz="2400" dirty="0">
              <a:solidFill>
                <a:srgbClr val="243152"/>
              </a:solidFill>
            </a:endParaRPr>
          </a:p>
        </p:txBody>
      </p:sp>
      <p:sp>
        <p:nvSpPr>
          <p:cNvPr id="12" name="Text 10">
            <a:extLst>
              <a:ext uri="{FF2B5EF4-FFF2-40B4-BE49-F238E27FC236}">
                <a16:creationId xmlns:a16="http://schemas.microsoft.com/office/drawing/2014/main" id="{7795414A-79F2-D1F4-5FDD-1A9DBC138496}"/>
              </a:ext>
            </a:extLst>
          </p:cNvPr>
          <p:cNvSpPr/>
          <p:nvPr/>
        </p:nvSpPr>
        <p:spPr>
          <a:xfrm>
            <a:off x="6254496" y="1840687"/>
            <a:ext cx="2423160" cy="368046"/>
          </a:xfrm>
          <a:prstGeom prst="rect">
            <a:avLst/>
          </a:prstGeom>
          <a:noFill/>
          <a:ln/>
        </p:spPr>
        <p:txBody>
          <a:bodyPr wrap="square" rtlCol="0" anchor="t"/>
          <a:lstStyle/>
          <a:p>
            <a:pPr marL="0" indent="0" algn="ctr">
              <a:buNone/>
            </a:pPr>
            <a:r>
              <a:rPr lang="en-US" sz="1300" dirty="0">
                <a:solidFill>
                  <a:srgbClr val="243152"/>
                </a:solidFill>
                <a:latin typeface="Calibri" pitchFamily="34" charset="0"/>
                <a:ea typeface="Calibri" pitchFamily="34" charset="-122"/>
                <a:cs typeface="Calibri" pitchFamily="34" charset="-120"/>
              </a:rPr>
              <a:t>Lifetime Revenue Lost</a:t>
            </a:r>
            <a:endParaRPr lang="en-US" sz="1300" dirty="0">
              <a:solidFill>
                <a:srgbClr val="243152"/>
              </a:solidFill>
            </a:endParaRPr>
          </a:p>
        </p:txBody>
      </p:sp>
      <p:sp>
        <p:nvSpPr>
          <p:cNvPr id="13" name="Shape 11">
            <a:extLst>
              <a:ext uri="{FF2B5EF4-FFF2-40B4-BE49-F238E27FC236}">
                <a16:creationId xmlns:a16="http://schemas.microsoft.com/office/drawing/2014/main" id="{9E560E36-1F7A-E3D0-5032-57CFD03EC421}"/>
              </a:ext>
            </a:extLst>
          </p:cNvPr>
          <p:cNvSpPr/>
          <p:nvPr/>
        </p:nvSpPr>
        <p:spPr>
          <a:xfrm>
            <a:off x="8970264" y="1188720"/>
            <a:ext cx="2606040" cy="1051560"/>
          </a:xfrm>
          <a:prstGeom prst="roundRect">
            <a:avLst>
              <a:gd name="adj" fmla="val 6957"/>
            </a:avLst>
          </a:prstGeom>
          <a:solidFill>
            <a:srgbClr val="FFFFFF"/>
          </a:solidFill>
          <a:ln w="12700">
            <a:solidFill>
              <a:srgbClr val="D7DEE7"/>
            </a:solidFill>
            <a:prstDash val="solid"/>
          </a:ln>
          <a:effectLst>
            <a:outerShdw blurRad="76200" dist="25400" dir="5400000" algn="bl" rotWithShape="0">
              <a:srgbClr val="9AA5B1">
                <a:alpha val="25000"/>
              </a:srgbClr>
            </a:outerShdw>
          </a:effectLst>
        </p:spPr>
        <p:txBody>
          <a:bodyPr/>
          <a:lstStyle/>
          <a:p>
            <a:endParaRPr lang="en-GB"/>
          </a:p>
        </p:txBody>
      </p:sp>
      <p:sp>
        <p:nvSpPr>
          <p:cNvPr id="14" name="Text 12">
            <a:extLst>
              <a:ext uri="{FF2B5EF4-FFF2-40B4-BE49-F238E27FC236}">
                <a16:creationId xmlns:a16="http://schemas.microsoft.com/office/drawing/2014/main" id="{35FEA2EC-3B28-971B-C94E-5360DCC2624D}"/>
              </a:ext>
            </a:extLst>
          </p:cNvPr>
          <p:cNvSpPr/>
          <p:nvPr/>
        </p:nvSpPr>
        <p:spPr>
          <a:xfrm>
            <a:off x="9061704" y="1298448"/>
            <a:ext cx="2423160" cy="578358"/>
          </a:xfrm>
          <a:prstGeom prst="rect">
            <a:avLst/>
          </a:prstGeom>
          <a:noFill/>
          <a:ln/>
        </p:spPr>
        <p:txBody>
          <a:bodyPr wrap="square" rtlCol="0" anchor="b"/>
          <a:lstStyle/>
          <a:p>
            <a:pPr marL="0" indent="0" algn="ctr">
              <a:buNone/>
            </a:pPr>
            <a:r>
              <a:rPr lang="en-US" sz="1600" b="1" dirty="0">
                <a:solidFill>
                  <a:srgbClr val="3FA7A0"/>
                </a:solidFill>
                <a:latin typeface="Cambria" pitchFamily="34" charset="0"/>
                <a:ea typeface="Cambria" pitchFamily="34" charset="-122"/>
                <a:cs typeface="Cambria" pitchFamily="34" charset="-120"/>
              </a:rPr>
              <a:t> </a:t>
            </a:r>
            <a:r>
              <a:rPr lang="en-US" sz="2400" b="1" dirty="0">
                <a:solidFill>
                  <a:srgbClr val="243152"/>
                </a:solidFill>
                <a:latin typeface="Cambria" pitchFamily="34" charset="0"/>
                <a:ea typeface="Cambria" pitchFamily="34" charset="-122"/>
                <a:cs typeface="Cambria" pitchFamily="34" charset="-120"/>
              </a:rPr>
              <a:t>$4.4K</a:t>
            </a:r>
            <a:endParaRPr lang="en-US" sz="2400" dirty="0">
              <a:solidFill>
                <a:srgbClr val="243152"/>
              </a:solidFill>
            </a:endParaRPr>
          </a:p>
        </p:txBody>
      </p:sp>
      <p:sp>
        <p:nvSpPr>
          <p:cNvPr id="15" name="Text 13">
            <a:extLst>
              <a:ext uri="{FF2B5EF4-FFF2-40B4-BE49-F238E27FC236}">
                <a16:creationId xmlns:a16="http://schemas.microsoft.com/office/drawing/2014/main" id="{28222D25-3EA8-B59D-0F1A-4E77CF619128}"/>
              </a:ext>
            </a:extLst>
          </p:cNvPr>
          <p:cNvSpPr/>
          <p:nvPr/>
        </p:nvSpPr>
        <p:spPr>
          <a:xfrm>
            <a:off x="9061704" y="1840687"/>
            <a:ext cx="2423160" cy="368046"/>
          </a:xfrm>
          <a:prstGeom prst="rect">
            <a:avLst/>
          </a:prstGeom>
          <a:noFill/>
          <a:ln/>
        </p:spPr>
        <p:txBody>
          <a:bodyPr wrap="square" rtlCol="0" anchor="t"/>
          <a:lstStyle/>
          <a:p>
            <a:pPr marL="0" indent="0" algn="ctr">
              <a:buNone/>
            </a:pPr>
            <a:r>
              <a:rPr lang="en-US" sz="1300" dirty="0">
                <a:solidFill>
                  <a:srgbClr val="243152"/>
                </a:solidFill>
                <a:latin typeface="Calibri" pitchFamily="34" charset="0"/>
                <a:ea typeface="Calibri" pitchFamily="34" charset="-122"/>
                <a:cs typeface="Calibri" pitchFamily="34" charset="-120"/>
              </a:rPr>
              <a:t>Avg. CLTV: Churned </a:t>
            </a:r>
            <a:endParaRPr lang="en-US" sz="1300" dirty="0">
              <a:solidFill>
                <a:srgbClr val="243152"/>
              </a:solidFill>
            </a:endParaRPr>
          </a:p>
        </p:txBody>
      </p:sp>
      <p:sp>
        <p:nvSpPr>
          <p:cNvPr id="21" name="Text 15">
            <a:extLst>
              <a:ext uri="{FF2B5EF4-FFF2-40B4-BE49-F238E27FC236}">
                <a16:creationId xmlns:a16="http://schemas.microsoft.com/office/drawing/2014/main" id="{A74A7AB6-2DD0-E993-7584-D2A021A5156C}"/>
              </a:ext>
            </a:extLst>
          </p:cNvPr>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C6B7A"/>
                </a:solidFill>
                <a:latin typeface="Calibri" pitchFamily="34" charset="0"/>
                <a:ea typeface="Calibri" pitchFamily="34" charset="-122"/>
                <a:cs typeface="Calibri" pitchFamily="34" charset="-120"/>
              </a:rPr>
              <a:t>Customer Churn Analysis  |  Group 3</a:t>
            </a:r>
            <a:endParaRPr lang="en-US" sz="900" dirty="0"/>
          </a:p>
        </p:txBody>
      </p:sp>
      <p:sp>
        <p:nvSpPr>
          <p:cNvPr id="22" name="Text 16">
            <a:extLst>
              <a:ext uri="{FF2B5EF4-FFF2-40B4-BE49-F238E27FC236}">
                <a16:creationId xmlns:a16="http://schemas.microsoft.com/office/drawing/2014/main" id="{3AAD16F8-3C79-550A-5090-A307D91C16C1}"/>
              </a:ext>
            </a:extLst>
          </p:cNvPr>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6</a:t>
            </a:r>
            <a:endParaRPr lang="en-US" sz="900" dirty="0"/>
          </a:p>
        </p:txBody>
      </p:sp>
      <p:pic>
        <p:nvPicPr>
          <p:cNvPr id="28" name="Picture 27">
            <a:extLst>
              <a:ext uri="{FF2B5EF4-FFF2-40B4-BE49-F238E27FC236}">
                <a16:creationId xmlns:a16="http://schemas.microsoft.com/office/drawing/2014/main" id="{0731453D-04DC-7682-B74A-0B7449AE8490}"/>
              </a:ext>
            </a:extLst>
          </p:cNvPr>
          <p:cNvPicPr>
            <a:picLocks noChangeAspect="1"/>
          </p:cNvPicPr>
          <p:nvPr/>
        </p:nvPicPr>
        <p:blipFill>
          <a:blip r:embed="rId3"/>
          <a:stretch>
            <a:fillRect/>
          </a:stretch>
        </p:blipFill>
        <p:spPr>
          <a:xfrm>
            <a:off x="1409251" y="2380950"/>
            <a:ext cx="3937359" cy="3910122"/>
          </a:xfrm>
          <a:prstGeom prst="rect">
            <a:avLst/>
          </a:prstGeom>
        </p:spPr>
      </p:pic>
      <p:pic>
        <p:nvPicPr>
          <p:cNvPr id="36" name="Picture 35">
            <a:extLst>
              <a:ext uri="{FF2B5EF4-FFF2-40B4-BE49-F238E27FC236}">
                <a16:creationId xmlns:a16="http://schemas.microsoft.com/office/drawing/2014/main" id="{76D02E1B-F415-40A9-848D-6ACD7C38F756}"/>
              </a:ext>
            </a:extLst>
          </p:cNvPr>
          <p:cNvPicPr>
            <a:picLocks noChangeAspect="1"/>
          </p:cNvPicPr>
          <p:nvPr/>
        </p:nvPicPr>
        <p:blipFill>
          <a:blip r:embed="rId4"/>
          <a:stretch>
            <a:fillRect/>
          </a:stretch>
        </p:blipFill>
        <p:spPr>
          <a:xfrm>
            <a:off x="5961888" y="2376663"/>
            <a:ext cx="4268634" cy="3910122"/>
          </a:xfrm>
          <a:prstGeom prst="rect">
            <a:avLst/>
          </a:prstGeom>
        </p:spPr>
      </p:pic>
    </p:spTree>
    <p:extLst>
      <p:ext uri="{BB962C8B-B14F-4D97-AF65-F5344CB8AC3E}">
        <p14:creationId xmlns:p14="http://schemas.microsoft.com/office/powerpoint/2010/main" val="763827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EF5"/>
        </a:solidFill>
        <a:effectLst/>
      </p:bgPr>
    </p:bg>
    <p:spTree>
      <p:nvGrpSpPr>
        <p:cNvPr id="1" name="">
          <a:extLst>
            <a:ext uri="{FF2B5EF4-FFF2-40B4-BE49-F238E27FC236}">
              <a16:creationId xmlns:a16="http://schemas.microsoft.com/office/drawing/2014/main" id="{394AB645-6D49-CD2C-EB64-41E37EE624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08236A-0EF3-D138-818B-2DFCA812E39C}"/>
              </a:ext>
            </a:extLst>
          </p:cNvPr>
          <p:cNvSpPr/>
          <p:nvPr/>
        </p:nvSpPr>
        <p:spPr>
          <a:xfrm>
            <a:off x="548640" y="210850"/>
            <a:ext cx="9144000" cy="274320"/>
          </a:xfrm>
          <a:prstGeom prst="rect">
            <a:avLst/>
          </a:prstGeom>
          <a:noFill/>
          <a:ln/>
        </p:spPr>
        <p:txBody>
          <a:bodyPr wrap="square" rtlCol="0" anchor="ctr"/>
          <a:lstStyle/>
          <a:p>
            <a:pPr marL="0" indent="0">
              <a:buNone/>
            </a:pPr>
            <a:r>
              <a:rPr lang="en-US" sz="1400" b="1" kern="0" spc="200" dirty="0">
                <a:solidFill>
                  <a:schemeClr val="accent1">
                    <a:lumMod val="50000"/>
                  </a:schemeClr>
                </a:solidFill>
                <a:latin typeface="Calibri" pitchFamily="34" charset="0"/>
                <a:ea typeface="Calibri" pitchFamily="34" charset="-122"/>
                <a:cs typeface="Calibri" pitchFamily="34" charset="-120"/>
              </a:rPr>
              <a:t>FINANCIAL IMPACT</a:t>
            </a:r>
            <a:endParaRPr lang="en-US" sz="1400" dirty="0">
              <a:solidFill>
                <a:schemeClr val="accent1">
                  <a:lumMod val="50000"/>
                </a:schemeClr>
              </a:solidFill>
            </a:endParaRPr>
          </a:p>
        </p:txBody>
      </p:sp>
      <p:sp>
        <p:nvSpPr>
          <p:cNvPr id="3" name="Text 1">
            <a:extLst>
              <a:ext uri="{FF2B5EF4-FFF2-40B4-BE49-F238E27FC236}">
                <a16:creationId xmlns:a16="http://schemas.microsoft.com/office/drawing/2014/main" id="{5119EEDB-0FFB-BF4A-7EF0-0BB6928FF240}"/>
              </a:ext>
            </a:extLst>
          </p:cNvPr>
          <p:cNvSpPr/>
          <p:nvPr/>
        </p:nvSpPr>
        <p:spPr>
          <a:xfrm>
            <a:off x="548640" y="426393"/>
            <a:ext cx="11064240" cy="594360"/>
          </a:xfrm>
          <a:prstGeom prst="rect">
            <a:avLst/>
          </a:prstGeom>
          <a:noFill/>
          <a:ln/>
        </p:spPr>
        <p:txBody>
          <a:bodyPr wrap="square" rtlCol="0" anchor="ctr"/>
          <a:lstStyle/>
          <a:p>
            <a:pPr marL="0" indent="0">
              <a:buNone/>
            </a:pPr>
            <a:r>
              <a:rPr lang="en-US" sz="2800" b="1" dirty="0">
                <a:solidFill>
                  <a:srgbClr val="162447"/>
                </a:solidFill>
                <a:latin typeface="Cambria" pitchFamily="34" charset="0"/>
                <a:ea typeface="Cambria" pitchFamily="34" charset="-122"/>
                <a:cs typeface="Cambria" pitchFamily="34" charset="-120"/>
              </a:rPr>
              <a:t>What Churn Is Actually Costing Us</a:t>
            </a:r>
            <a:endParaRPr lang="en-US" sz="2800" dirty="0"/>
          </a:p>
        </p:txBody>
      </p:sp>
      <p:sp>
        <p:nvSpPr>
          <p:cNvPr id="4" name="Shape 2">
            <a:extLst>
              <a:ext uri="{FF2B5EF4-FFF2-40B4-BE49-F238E27FC236}">
                <a16:creationId xmlns:a16="http://schemas.microsoft.com/office/drawing/2014/main" id="{6E0E544A-60A0-21F9-8402-A2047645171B}"/>
              </a:ext>
            </a:extLst>
          </p:cNvPr>
          <p:cNvSpPr/>
          <p:nvPr/>
        </p:nvSpPr>
        <p:spPr>
          <a:xfrm>
            <a:off x="585216" y="976899"/>
            <a:ext cx="2606040" cy="1051560"/>
          </a:xfrm>
          <a:prstGeom prst="roundRect">
            <a:avLst>
              <a:gd name="adj" fmla="val 6957"/>
            </a:avLst>
          </a:prstGeom>
          <a:solidFill>
            <a:srgbClr val="FFFFFF"/>
          </a:solidFill>
          <a:ln w="12700">
            <a:solidFill>
              <a:srgbClr val="D7DEE7"/>
            </a:solidFill>
            <a:prstDash val="solid"/>
          </a:ln>
          <a:effectLst>
            <a:outerShdw blurRad="76200" dist="25400" dir="5400000" algn="bl" rotWithShape="0">
              <a:srgbClr val="9AA5B1">
                <a:alpha val="25000"/>
              </a:srgbClr>
            </a:outerShdw>
          </a:effectLst>
        </p:spPr>
        <p:txBody>
          <a:bodyPr/>
          <a:lstStyle/>
          <a:p>
            <a:endParaRPr lang="en-GB"/>
          </a:p>
        </p:txBody>
      </p:sp>
      <p:sp>
        <p:nvSpPr>
          <p:cNvPr id="5" name="Text 3">
            <a:extLst>
              <a:ext uri="{FF2B5EF4-FFF2-40B4-BE49-F238E27FC236}">
                <a16:creationId xmlns:a16="http://schemas.microsoft.com/office/drawing/2014/main" id="{64A64CFE-8A1B-8B3A-7FD3-36A1066507B0}"/>
              </a:ext>
            </a:extLst>
          </p:cNvPr>
          <p:cNvSpPr/>
          <p:nvPr/>
        </p:nvSpPr>
        <p:spPr>
          <a:xfrm>
            <a:off x="676656" y="1086627"/>
            <a:ext cx="2423160" cy="578358"/>
          </a:xfrm>
          <a:prstGeom prst="rect">
            <a:avLst/>
          </a:prstGeom>
          <a:noFill/>
          <a:ln/>
        </p:spPr>
        <p:txBody>
          <a:bodyPr wrap="square" rtlCol="0" anchor="b"/>
          <a:lstStyle/>
          <a:p>
            <a:pPr marL="0" indent="0" algn="ctr">
              <a:buNone/>
            </a:pPr>
            <a:r>
              <a:rPr lang="en-US" sz="2400" b="1" dirty="0">
                <a:solidFill>
                  <a:srgbClr val="162447"/>
                </a:solidFill>
                <a:latin typeface="Cambria" pitchFamily="34" charset="0"/>
                <a:ea typeface="Cambria" pitchFamily="34" charset="-122"/>
                <a:cs typeface="Cambria" pitchFamily="34" charset="-120"/>
              </a:rPr>
              <a:t>$16.06M</a:t>
            </a:r>
            <a:endParaRPr lang="en-US" sz="2400" dirty="0"/>
          </a:p>
        </p:txBody>
      </p:sp>
      <p:sp>
        <p:nvSpPr>
          <p:cNvPr id="6" name="Text 4">
            <a:extLst>
              <a:ext uri="{FF2B5EF4-FFF2-40B4-BE49-F238E27FC236}">
                <a16:creationId xmlns:a16="http://schemas.microsoft.com/office/drawing/2014/main" id="{A4DA532A-DDB1-8D28-5D44-16D7F40162A8}"/>
              </a:ext>
            </a:extLst>
          </p:cNvPr>
          <p:cNvSpPr/>
          <p:nvPr/>
        </p:nvSpPr>
        <p:spPr>
          <a:xfrm>
            <a:off x="676656" y="1628866"/>
            <a:ext cx="2423160" cy="368046"/>
          </a:xfrm>
          <a:prstGeom prst="rect">
            <a:avLst/>
          </a:prstGeom>
          <a:noFill/>
          <a:ln/>
        </p:spPr>
        <p:txBody>
          <a:bodyPr wrap="square" rtlCol="0" anchor="t"/>
          <a:lstStyle/>
          <a:p>
            <a:pPr marL="0" indent="0" algn="ctr">
              <a:buNone/>
            </a:pPr>
            <a:r>
              <a:rPr lang="en-US" sz="1300" dirty="0">
                <a:solidFill>
                  <a:srgbClr val="162447"/>
                </a:solidFill>
                <a:latin typeface="Calibri" pitchFamily="34" charset="0"/>
                <a:ea typeface="Calibri" pitchFamily="34" charset="-122"/>
                <a:cs typeface="Calibri" pitchFamily="34" charset="-120"/>
              </a:rPr>
              <a:t>Total Revenue</a:t>
            </a:r>
            <a:endParaRPr lang="en-US" sz="1300" dirty="0">
              <a:solidFill>
                <a:srgbClr val="162447"/>
              </a:solidFill>
            </a:endParaRPr>
          </a:p>
        </p:txBody>
      </p:sp>
      <p:sp>
        <p:nvSpPr>
          <p:cNvPr id="7" name="Shape 5">
            <a:extLst>
              <a:ext uri="{FF2B5EF4-FFF2-40B4-BE49-F238E27FC236}">
                <a16:creationId xmlns:a16="http://schemas.microsoft.com/office/drawing/2014/main" id="{0EB40463-784E-BD88-21D8-33BC8DE890EB}"/>
              </a:ext>
            </a:extLst>
          </p:cNvPr>
          <p:cNvSpPr/>
          <p:nvPr/>
        </p:nvSpPr>
        <p:spPr>
          <a:xfrm>
            <a:off x="3392424" y="976899"/>
            <a:ext cx="2606040" cy="1051560"/>
          </a:xfrm>
          <a:prstGeom prst="roundRect">
            <a:avLst>
              <a:gd name="adj" fmla="val 6957"/>
            </a:avLst>
          </a:prstGeom>
          <a:solidFill>
            <a:srgbClr val="FFFFFF"/>
          </a:solidFill>
          <a:ln w="12700">
            <a:solidFill>
              <a:srgbClr val="D7DEE7"/>
            </a:solidFill>
            <a:prstDash val="solid"/>
          </a:ln>
          <a:effectLst>
            <a:outerShdw blurRad="76200" dist="25400" dir="5400000" algn="bl" rotWithShape="0">
              <a:srgbClr val="9AA5B1">
                <a:alpha val="25000"/>
              </a:srgbClr>
            </a:outerShdw>
          </a:effectLst>
        </p:spPr>
        <p:txBody>
          <a:bodyPr/>
          <a:lstStyle/>
          <a:p>
            <a:endParaRPr lang="en-GB"/>
          </a:p>
        </p:txBody>
      </p:sp>
      <p:sp>
        <p:nvSpPr>
          <p:cNvPr id="8" name="Text 6">
            <a:extLst>
              <a:ext uri="{FF2B5EF4-FFF2-40B4-BE49-F238E27FC236}">
                <a16:creationId xmlns:a16="http://schemas.microsoft.com/office/drawing/2014/main" id="{FB6C3B63-9754-8813-7EBF-378B1F5B77AF}"/>
              </a:ext>
            </a:extLst>
          </p:cNvPr>
          <p:cNvSpPr/>
          <p:nvPr/>
        </p:nvSpPr>
        <p:spPr>
          <a:xfrm>
            <a:off x="3483864" y="1086627"/>
            <a:ext cx="2423160" cy="578358"/>
          </a:xfrm>
          <a:prstGeom prst="rect">
            <a:avLst/>
          </a:prstGeom>
          <a:noFill/>
          <a:ln/>
        </p:spPr>
        <p:txBody>
          <a:bodyPr wrap="square" rtlCol="0" anchor="b"/>
          <a:lstStyle/>
          <a:p>
            <a:pPr marL="0" indent="0" algn="ctr">
              <a:buNone/>
            </a:pPr>
            <a:r>
              <a:rPr lang="en-US" sz="2400" b="1" dirty="0">
                <a:solidFill>
                  <a:srgbClr val="162447"/>
                </a:solidFill>
                <a:latin typeface="Cambria" pitchFamily="34" charset="0"/>
                <a:ea typeface="Cambria" pitchFamily="34" charset="-122"/>
                <a:cs typeface="Cambria" pitchFamily="34" charset="-120"/>
              </a:rPr>
              <a:t>$139.1K</a:t>
            </a:r>
            <a:endParaRPr lang="en-US" sz="2400" dirty="0">
              <a:solidFill>
                <a:srgbClr val="162447"/>
              </a:solidFill>
            </a:endParaRPr>
          </a:p>
        </p:txBody>
      </p:sp>
      <p:sp>
        <p:nvSpPr>
          <p:cNvPr id="9" name="Text 7">
            <a:extLst>
              <a:ext uri="{FF2B5EF4-FFF2-40B4-BE49-F238E27FC236}">
                <a16:creationId xmlns:a16="http://schemas.microsoft.com/office/drawing/2014/main" id="{5ECED606-5A5E-97EE-25D8-62F44359E271}"/>
              </a:ext>
            </a:extLst>
          </p:cNvPr>
          <p:cNvSpPr/>
          <p:nvPr/>
        </p:nvSpPr>
        <p:spPr>
          <a:xfrm>
            <a:off x="3483864" y="1628866"/>
            <a:ext cx="2423160" cy="368046"/>
          </a:xfrm>
          <a:prstGeom prst="rect">
            <a:avLst/>
          </a:prstGeom>
          <a:noFill/>
          <a:ln/>
        </p:spPr>
        <p:txBody>
          <a:bodyPr wrap="square" rtlCol="0" anchor="t"/>
          <a:lstStyle/>
          <a:p>
            <a:pPr marL="0" indent="0" algn="ctr">
              <a:buNone/>
            </a:pPr>
            <a:r>
              <a:rPr lang="en-US" sz="1300" dirty="0">
                <a:solidFill>
                  <a:srgbClr val="162447"/>
                </a:solidFill>
                <a:latin typeface="Calibri" pitchFamily="34" charset="0"/>
                <a:ea typeface="Calibri" pitchFamily="34" charset="-122"/>
                <a:cs typeface="Calibri" pitchFamily="34" charset="-120"/>
              </a:rPr>
              <a:t>Monthly Revenue Lost</a:t>
            </a:r>
            <a:endParaRPr lang="en-US" sz="1300" dirty="0">
              <a:solidFill>
                <a:srgbClr val="162447"/>
              </a:solidFill>
            </a:endParaRPr>
          </a:p>
        </p:txBody>
      </p:sp>
      <p:sp>
        <p:nvSpPr>
          <p:cNvPr id="10" name="Shape 8">
            <a:extLst>
              <a:ext uri="{FF2B5EF4-FFF2-40B4-BE49-F238E27FC236}">
                <a16:creationId xmlns:a16="http://schemas.microsoft.com/office/drawing/2014/main" id="{AE0735B4-0732-2475-4904-34F04D75E76A}"/>
              </a:ext>
            </a:extLst>
          </p:cNvPr>
          <p:cNvSpPr/>
          <p:nvPr/>
        </p:nvSpPr>
        <p:spPr>
          <a:xfrm>
            <a:off x="6199632" y="976899"/>
            <a:ext cx="2606040" cy="1051560"/>
          </a:xfrm>
          <a:prstGeom prst="roundRect">
            <a:avLst>
              <a:gd name="adj" fmla="val 6957"/>
            </a:avLst>
          </a:prstGeom>
          <a:solidFill>
            <a:srgbClr val="FFFFFF"/>
          </a:solidFill>
          <a:ln w="12700">
            <a:solidFill>
              <a:srgbClr val="D7DEE7"/>
            </a:solidFill>
            <a:prstDash val="solid"/>
          </a:ln>
          <a:effectLst>
            <a:outerShdw blurRad="76200" dist="25400" dir="5400000" algn="bl" rotWithShape="0">
              <a:srgbClr val="9AA5B1">
                <a:alpha val="25000"/>
              </a:srgbClr>
            </a:outerShdw>
          </a:effectLst>
        </p:spPr>
        <p:txBody>
          <a:bodyPr/>
          <a:lstStyle/>
          <a:p>
            <a:endParaRPr lang="en-GB"/>
          </a:p>
        </p:txBody>
      </p:sp>
      <p:sp>
        <p:nvSpPr>
          <p:cNvPr id="11" name="Text 9">
            <a:extLst>
              <a:ext uri="{FF2B5EF4-FFF2-40B4-BE49-F238E27FC236}">
                <a16:creationId xmlns:a16="http://schemas.microsoft.com/office/drawing/2014/main" id="{207FF390-049C-3F9D-AAEC-617807752DB1}"/>
              </a:ext>
            </a:extLst>
          </p:cNvPr>
          <p:cNvSpPr/>
          <p:nvPr/>
        </p:nvSpPr>
        <p:spPr>
          <a:xfrm>
            <a:off x="6291072" y="1086627"/>
            <a:ext cx="2423160" cy="578358"/>
          </a:xfrm>
          <a:prstGeom prst="rect">
            <a:avLst/>
          </a:prstGeom>
          <a:noFill/>
          <a:ln/>
        </p:spPr>
        <p:txBody>
          <a:bodyPr wrap="square" rtlCol="0" anchor="b"/>
          <a:lstStyle/>
          <a:p>
            <a:pPr marL="0" indent="0" algn="ctr">
              <a:buNone/>
            </a:pPr>
            <a:r>
              <a:rPr lang="en-US" sz="2400" b="1" dirty="0">
                <a:solidFill>
                  <a:srgbClr val="243152"/>
                </a:solidFill>
                <a:latin typeface="Cambria" pitchFamily="34" charset="0"/>
                <a:ea typeface="Cambria" pitchFamily="34" charset="-122"/>
                <a:cs typeface="Cambria" pitchFamily="34" charset="-120"/>
              </a:rPr>
              <a:t>$8M</a:t>
            </a:r>
            <a:endParaRPr lang="en-US" sz="2400" dirty="0">
              <a:solidFill>
                <a:srgbClr val="243152"/>
              </a:solidFill>
            </a:endParaRPr>
          </a:p>
        </p:txBody>
      </p:sp>
      <p:sp>
        <p:nvSpPr>
          <p:cNvPr id="12" name="Text 10">
            <a:extLst>
              <a:ext uri="{FF2B5EF4-FFF2-40B4-BE49-F238E27FC236}">
                <a16:creationId xmlns:a16="http://schemas.microsoft.com/office/drawing/2014/main" id="{635BE24E-A318-CB07-808D-AAA0C12D4638}"/>
              </a:ext>
            </a:extLst>
          </p:cNvPr>
          <p:cNvSpPr/>
          <p:nvPr/>
        </p:nvSpPr>
        <p:spPr>
          <a:xfrm>
            <a:off x="6291072" y="1628866"/>
            <a:ext cx="2423160" cy="368046"/>
          </a:xfrm>
          <a:prstGeom prst="rect">
            <a:avLst/>
          </a:prstGeom>
          <a:noFill/>
          <a:ln/>
        </p:spPr>
        <p:txBody>
          <a:bodyPr wrap="square" rtlCol="0" anchor="t"/>
          <a:lstStyle/>
          <a:p>
            <a:pPr marL="0" indent="0" algn="ctr">
              <a:buNone/>
            </a:pPr>
            <a:r>
              <a:rPr lang="en-US" sz="1300" dirty="0">
                <a:solidFill>
                  <a:srgbClr val="243152"/>
                </a:solidFill>
                <a:latin typeface="Calibri" pitchFamily="34" charset="0"/>
                <a:ea typeface="Calibri" pitchFamily="34" charset="-122"/>
                <a:cs typeface="Calibri" pitchFamily="34" charset="-120"/>
              </a:rPr>
              <a:t>Total CLTV Lost</a:t>
            </a:r>
            <a:endParaRPr lang="en-US" sz="1300" dirty="0">
              <a:solidFill>
                <a:srgbClr val="243152"/>
              </a:solidFill>
            </a:endParaRPr>
          </a:p>
        </p:txBody>
      </p:sp>
      <p:sp>
        <p:nvSpPr>
          <p:cNvPr id="13" name="Shape 11">
            <a:extLst>
              <a:ext uri="{FF2B5EF4-FFF2-40B4-BE49-F238E27FC236}">
                <a16:creationId xmlns:a16="http://schemas.microsoft.com/office/drawing/2014/main" id="{122B99E7-CE02-6058-6871-59B6DA1A2960}"/>
              </a:ext>
            </a:extLst>
          </p:cNvPr>
          <p:cNvSpPr/>
          <p:nvPr/>
        </p:nvSpPr>
        <p:spPr>
          <a:xfrm>
            <a:off x="9006840" y="976899"/>
            <a:ext cx="2606040" cy="1051560"/>
          </a:xfrm>
          <a:prstGeom prst="roundRect">
            <a:avLst>
              <a:gd name="adj" fmla="val 6957"/>
            </a:avLst>
          </a:prstGeom>
          <a:solidFill>
            <a:srgbClr val="FFFFFF"/>
          </a:solidFill>
          <a:ln w="12700">
            <a:solidFill>
              <a:srgbClr val="D7DEE7"/>
            </a:solidFill>
            <a:prstDash val="solid"/>
          </a:ln>
          <a:effectLst>
            <a:outerShdw blurRad="76200" dist="25400" dir="5400000" algn="bl" rotWithShape="0">
              <a:srgbClr val="9AA5B1">
                <a:alpha val="25000"/>
              </a:srgbClr>
            </a:outerShdw>
          </a:effectLst>
        </p:spPr>
        <p:txBody>
          <a:bodyPr/>
          <a:lstStyle/>
          <a:p>
            <a:endParaRPr lang="en-GB"/>
          </a:p>
        </p:txBody>
      </p:sp>
      <p:sp>
        <p:nvSpPr>
          <p:cNvPr id="14" name="Text 12">
            <a:extLst>
              <a:ext uri="{FF2B5EF4-FFF2-40B4-BE49-F238E27FC236}">
                <a16:creationId xmlns:a16="http://schemas.microsoft.com/office/drawing/2014/main" id="{FAB671B0-644A-0408-BF71-F14B3C078C7A}"/>
              </a:ext>
            </a:extLst>
          </p:cNvPr>
          <p:cNvSpPr/>
          <p:nvPr/>
        </p:nvSpPr>
        <p:spPr>
          <a:xfrm>
            <a:off x="9098280" y="1086627"/>
            <a:ext cx="2423160" cy="578358"/>
          </a:xfrm>
          <a:prstGeom prst="rect">
            <a:avLst/>
          </a:prstGeom>
          <a:noFill/>
          <a:ln/>
        </p:spPr>
        <p:txBody>
          <a:bodyPr wrap="square" rtlCol="0" anchor="b"/>
          <a:lstStyle/>
          <a:p>
            <a:pPr marL="0" indent="0" algn="ctr">
              <a:buNone/>
            </a:pPr>
            <a:r>
              <a:rPr lang="en-US" sz="1600" b="1" dirty="0">
                <a:solidFill>
                  <a:srgbClr val="3FA7A0"/>
                </a:solidFill>
                <a:latin typeface="Cambria" pitchFamily="34" charset="0"/>
                <a:ea typeface="Cambria" pitchFamily="34" charset="-122"/>
                <a:cs typeface="Cambria" pitchFamily="34" charset="-120"/>
              </a:rPr>
              <a:t> </a:t>
            </a:r>
            <a:r>
              <a:rPr lang="en-US" sz="2400" b="1" dirty="0">
                <a:solidFill>
                  <a:srgbClr val="243152"/>
                </a:solidFill>
                <a:latin typeface="Cambria" pitchFamily="34" charset="0"/>
                <a:ea typeface="Cambria" pitchFamily="34" charset="-122"/>
                <a:cs typeface="Cambria" pitchFamily="34" charset="-120"/>
              </a:rPr>
              <a:t>$4.4K</a:t>
            </a:r>
            <a:endParaRPr lang="en-US" sz="2400" dirty="0">
              <a:solidFill>
                <a:srgbClr val="243152"/>
              </a:solidFill>
            </a:endParaRPr>
          </a:p>
        </p:txBody>
      </p:sp>
      <p:sp>
        <p:nvSpPr>
          <p:cNvPr id="15" name="Text 13">
            <a:extLst>
              <a:ext uri="{FF2B5EF4-FFF2-40B4-BE49-F238E27FC236}">
                <a16:creationId xmlns:a16="http://schemas.microsoft.com/office/drawing/2014/main" id="{C2B30E86-DFCD-23C8-0E70-C46ABE65E928}"/>
              </a:ext>
            </a:extLst>
          </p:cNvPr>
          <p:cNvSpPr/>
          <p:nvPr/>
        </p:nvSpPr>
        <p:spPr>
          <a:xfrm>
            <a:off x="9098280" y="1628866"/>
            <a:ext cx="2423160" cy="368046"/>
          </a:xfrm>
          <a:prstGeom prst="rect">
            <a:avLst/>
          </a:prstGeom>
          <a:noFill/>
          <a:ln/>
        </p:spPr>
        <p:txBody>
          <a:bodyPr wrap="square" rtlCol="0" anchor="t"/>
          <a:lstStyle/>
          <a:p>
            <a:pPr marL="0" indent="0" algn="ctr">
              <a:buNone/>
            </a:pPr>
            <a:r>
              <a:rPr lang="en-US" sz="1300" dirty="0">
                <a:solidFill>
                  <a:srgbClr val="243152"/>
                </a:solidFill>
                <a:latin typeface="Calibri" pitchFamily="34" charset="0"/>
                <a:ea typeface="Calibri" pitchFamily="34" charset="-122"/>
                <a:cs typeface="Calibri" pitchFamily="34" charset="-120"/>
              </a:rPr>
              <a:t>Avg. CLTV: Churned </a:t>
            </a:r>
            <a:endParaRPr lang="en-US" sz="1300" dirty="0">
              <a:solidFill>
                <a:srgbClr val="243152"/>
              </a:solidFill>
            </a:endParaRPr>
          </a:p>
        </p:txBody>
      </p:sp>
      <p:sp>
        <p:nvSpPr>
          <p:cNvPr id="21" name="Text 15">
            <a:extLst>
              <a:ext uri="{FF2B5EF4-FFF2-40B4-BE49-F238E27FC236}">
                <a16:creationId xmlns:a16="http://schemas.microsoft.com/office/drawing/2014/main" id="{27893B50-DA1B-8340-E028-63F0BE5A1B9D}"/>
              </a:ext>
            </a:extLst>
          </p:cNvPr>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C6B7A"/>
                </a:solidFill>
                <a:latin typeface="Calibri" pitchFamily="34" charset="0"/>
                <a:ea typeface="Calibri" pitchFamily="34" charset="-122"/>
                <a:cs typeface="Calibri" pitchFamily="34" charset="-120"/>
              </a:rPr>
              <a:t>Customer Churn Analysis  |  Group 3</a:t>
            </a:r>
            <a:endParaRPr lang="en-US" sz="900" dirty="0"/>
          </a:p>
        </p:txBody>
      </p:sp>
      <p:sp>
        <p:nvSpPr>
          <p:cNvPr id="22" name="Text 16">
            <a:extLst>
              <a:ext uri="{FF2B5EF4-FFF2-40B4-BE49-F238E27FC236}">
                <a16:creationId xmlns:a16="http://schemas.microsoft.com/office/drawing/2014/main" id="{422FC20B-CAAE-BB23-B85C-ED919CEB811C}"/>
              </a:ext>
            </a:extLst>
          </p:cNvPr>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6</a:t>
            </a:r>
            <a:endParaRPr lang="en-US" sz="900" dirty="0"/>
          </a:p>
        </p:txBody>
      </p:sp>
      <p:sp>
        <p:nvSpPr>
          <p:cNvPr id="17" name="Shape 2">
            <a:extLst>
              <a:ext uri="{FF2B5EF4-FFF2-40B4-BE49-F238E27FC236}">
                <a16:creationId xmlns:a16="http://schemas.microsoft.com/office/drawing/2014/main" id="{DAD48E77-F032-4073-67B3-E1270438E5D3}"/>
              </a:ext>
            </a:extLst>
          </p:cNvPr>
          <p:cNvSpPr/>
          <p:nvPr/>
        </p:nvSpPr>
        <p:spPr>
          <a:xfrm>
            <a:off x="8144794" y="2087820"/>
            <a:ext cx="3925739" cy="4770180"/>
          </a:xfrm>
          <a:prstGeom prst="roundRect">
            <a:avLst>
              <a:gd name="adj" fmla="val 1951"/>
            </a:avLst>
          </a:prstGeom>
          <a:solidFill>
            <a:schemeClr val="bg1"/>
          </a:solidFill>
          <a:ln w="12700">
            <a:solidFill>
              <a:srgbClr val="D7DEE7"/>
            </a:solidFill>
            <a:prstDash val="solid"/>
          </a:ln>
        </p:spPr>
        <p:txBody>
          <a:bodyPr/>
          <a:lstStyle/>
          <a:p>
            <a:endParaRPr lang="en-GB"/>
          </a:p>
        </p:txBody>
      </p:sp>
      <p:sp>
        <p:nvSpPr>
          <p:cNvPr id="18" name="TextBox 17">
            <a:extLst>
              <a:ext uri="{FF2B5EF4-FFF2-40B4-BE49-F238E27FC236}">
                <a16:creationId xmlns:a16="http://schemas.microsoft.com/office/drawing/2014/main" id="{C721EC11-7373-56C8-D913-7839FD17918F}"/>
              </a:ext>
            </a:extLst>
          </p:cNvPr>
          <p:cNvSpPr txBox="1"/>
          <p:nvPr/>
        </p:nvSpPr>
        <p:spPr>
          <a:xfrm>
            <a:off x="8212926" y="2171275"/>
            <a:ext cx="3925739" cy="3762312"/>
          </a:xfrm>
          <a:prstGeom prst="rect">
            <a:avLst/>
          </a:prstGeom>
          <a:noFill/>
        </p:spPr>
        <p:txBody>
          <a:bodyPr wrap="square" rtlCol="0">
            <a:spAutoFit/>
          </a:bodyPr>
          <a:lstStyle/>
          <a:p>
            <a:r>
              <a:rPr lang="en-GB" sz="1300" b="1" dirty="0"/>
              <a:t>INSIGHT</a:t>
            </a:r>
          </a:p>
          <a:p>
            <a:endParaRPr lang="en-GB" sz="1300" dirty="0"/>
          </a:p>
          <a:p>
            <a:pPr>
              <a:lnSpc>
                <a:spcPct val="150000"/>
              </a:lnSpc>
            </a:pPr>
            <a:r>
              <a:rPr lang="en-GB" sz="1300" dirty="0">
                <a:solidFill>
                  <a:schemeClr val="tx2">
                    <a:lumMod val="75000"/>
                  </a:schemeClr>
                </a:solidFill>
              </a:rPr>
              <a:t>Month-to-month contracts and Electronic Check payments each drive over half of monthly and lifetime losses, and new customers alone account for over half of all CLTV lost. The risk sits almost entirely in short-tenure, low-commitment customers.</a:t>
            </a:r>
          </a:p>
          <a:p>
            <a:endParaRPr lang="en-GB" sz="1300" dirty="0"/>
          </a:p>
          <a:p>
            <a:r>
              <a:rPr lang="en-GB" sz="1300" b="1" dirty="0">
                <a:solidFill>
                  <a:srgbClr val="000000"/>
                </a:solidFill>
              </a:rPr>
              <a:t>RECOMMENDATION</a:t>
            </a:r>
          </a:p>
          <a:p>
            <a:endParaRPr lang="en-GB" sz="1300" dirty="0"/>
          </a:p>
          <a:p>
            <a:pPr>
              <a:lnSpc>
                <a:spcPct val="150000"/>
              </a:lnSpc>
            </a:pPr>
            <a:r>
              <a:rPr lang="en-GB" sz="1300" dirty="0">
                <a:solidFill>
                  <a:schemeClr val="tx2">
                    <a:lumMod val="75000"/>
                  </a:schemeClr>
                </a:solidFill>
              </a:rPr>
              <a:t>Prioritize retention spend on new, month-to-month, Electronic Check customers as this single overlapping group carries the majority of both the ongoing monthly bleed and the long-term value at stake.</a:t>
            </a:r>
          </a:p>
        </p:txBody>
      </p:sp>
      <p:pic>
        <p:nvPicPr>
          <p:cNvPr id="29" name="Picture 28">
            <a:extLst>
              <a:ext uri="{FF2B5EF4-FFF2-40B4-BE49-F238E27FC236}">
                <a16:creationId xmlns:a16="http://schemas.microsoft.com/office/drawing/2014/main" id="{81C2FF62-1E9F-E839-FEDF-3DEA614D5200}"/>
              </a:ext>
            </a:extLst>
          </p:cNvPr>
          <p:cNvPicPr>
            <a:picLocks noChangeAspect="1"/>
          </p:cNvPicPr>
          <p:nvPr/>
        </p:nvPicPr>
        <p:blipFill>
          <a:blip r:embed="rId3"/>
          <a:stretch>
            <a:fillRect/>
          </a:stretch>
        </p:blipFill>
        <p:spPr>
          <a:xfrm>
            <a:off x="4131564" y="2370352"/>
            <a:ext cx="3925738" cy="4046386"/>
          </a:xfrm>
          <a:prstGeom prst="rect">
            <a:avLst/>
          </a:prstGeom>
        </p:spPr>
      </p:pic>
      <p:pic>
        <p:nvPicPr>
          <p:cNvPr id="31" name="Picture 30">
            <a:extLst>
              <a:ext uri="{FF2B5EF4-FFF2-40B4-BE49-F238E27FC236}">
                <a16:creationId xmlns:a16="http://schemas.microsoft.com/office/drawing/2014/main" id="{70996B0D-738B-5D49-080D-9608514425C8}"/>
              </a:ext>
            </a:extLst>
          </p:cNvPr>
          <p:cNvPicPr>
            <a:picLocks noChangeAspect="1"/>
          </p:cNvPicPr>
          <p:nvPr/>
        </p:nvPicPr>
        <p:blipFill>
          <a:blip r:embed="rId4"/>
          <a:stretch>
            <a:fillRect/>
          </a:stretch>
        </p:blipFill>
        <p:spPr>
          <a:xfrm>
            <a:off x="53335" y="2370352"/>
            <a:ext cx="3990738" cy="4046386"/>
          </a:xfrm>
          <a:prstGeom prst="rect">
            <a:avLst/>
          </a:prstGeom>
        </p:spPr>
      </p:pic>
    </p:spTree>
    <p:extLst>
      <p:ext uri="{BB962C8B-B14F-4D97-AF65-F5344CB8AC3E}">
        <p14:creationId xmlns:p14="http://schemas.microsoft.com/office/powerpoint/2010/main" val="788238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chemeClr val="tx2">
                    <a:lumMod val="50000"/>
                  </a:schemeClr>
                </a:solidFill>
                <a:latin typeface="Calibri" pitchFamily="34" charset="0"/>
                <a:ea typeface="Calibri" pitchFamily="34" charset="-122"/>
                <a:cs typeface="Calibri" pitchFamily="34" charset="-120"/>
              </a:rPr>
              <a:t>BUSINESS INSIGHT</a:t>
            </a:r>
            <a:endParaRPr lang="en-US" sz="1200" dirty="0">
              <a:solidFill>
                <a:schemeClr val="tx2">
                  <a:lumMod val="50000"/>
                </a:schemeClr>
              </a:solidFill>
            </a:endParaRPr>
          </a:p>
        </p:txBody>
      </p:sp>
      <p:sp>
        <p:nvSpPr>
          <p:cNvPr id="3" name="Text 1"/>
          <p:cNvSpPr/>
          <p:nvPr/>
        </p:nvSpPr>
        <p:spPr>
          <a:xfrm>
            <a:off x="548640" y="566928"/>
            <a:ext cx="11064240" cy="594360"/>
          </a:xfrm>
          <a:prstGeom prst="rect">
            <a:avLst/>
          </a:prstGeom>
          <a:noFill/>
          <a:ln/>
        </p:spPr>
        <p:txBody>
          <a:bodyPr wrap="square" rtlCol="0" anchor="ctr"/>
          <a:lstStyle/>
          <a:p>
            <a:pPr marL="0" indent="0">
              <a:buNone/>
            </a:pPr>
            <a:r>
              <a:rPr lang="en-US" sz="2800" b="1" dirty="0">
                <a:solidFill>
                  <a:srgbClr val="162447"/>
                </a:solidFill>
                <a:latin typeface="Cambria" pitchFamily="34" charset="0"/>
                <a:ea typeface="Cambria" pitchFamily="34" charset="-122"/>
                <a:cs typeface="Cambria" pitchFamily="34" charset="-120"/>
              </a:rPr>
              <a:t>Is It Price, or Is It Us?</a:t>
            </a:r>
            <a:endParaRPr lang="en-US" sz="2800" dirty="0"/>
          </a:p>
        </p:txBody>
      </p:sp>
      <p:graphicFrame>
        <p:nvGraphicFramePr>
          <p:cNvPr id="4" name="Chart 0"/>
          <p:cNvGraphicFramePr/>
          <p:nvPr>
            <p:extLst>
              <p:ext uri="{D42A27DB-BD31-4B8C-83A1-F6EECF244321}">
                <p14:modId xmlns:p14="http://schemas.microsoft.com/office/powerpoint/2010/main" val="652993130"/>
              </p:ext>
            </p:extLst>
          </p:nvPr>
        </p:nvGraphicFramePr>
        <p:xfrm>
          <a:off x="266218" y="1417319"/>
          <a:ext cx="5966942" cy="4639235"/>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492240" y="1417319"/>
            <a:ext cx="5242560" cy="4639236"/>
          </a:xfrm>
          <a:prstGeom prst="roundRect">
            <a:avLst>
              <a:gd name="adj" fmla="val 1951"/>
            </a:avLst>
          </a:prstGeom>
          <a:solidFill>
            <a:srgbClr val="E9EEF5"/>
          </a:solidFill>
          <a:ln w="12700">
            <a:solidFill>
              <a:srgbClr val="D7DEE7"/>
            </a:solidFill>
            <a:prstDash val="solid"/>
          </a:ln>
        </p:spPr>
        <p:txBody>
          <a:bodyPr/>
          <a:lstStyle/>
          <a:p>
            <a:endParaRPr lang="en-GB"/>
          </a:p>
        </p:txBody>
      </p:sp>
      <p:sp>
        <p:nvSpPr>
          <p:cNvPr id="6" name="Text 3"/>
          <p:cNvSpPr/>
          <p:nvPr/>
        </p:nvSpPr>
        <p:spPr>
          <a:xfrm>
            <a:off x="6720840" y="1600200"/>
            <a:ext cx="4754880" cy="320040"/>
          </a:xfrm>
          <a:prstGeom prst="rect">
            <a:avLst/>
          </a:prstGeom>
          <a:noFill/>
          <a:ln/>
        </p:spPr>
        <p:txBody>
          <a:bodyPr wrap="square" rtlCol="0" anchor="ctr"/>
          <a:lstStyle/>
          <a:p>
            <a:pPr marL="0" indent="0">
              <a:buNone/>
            </a:pPr>
            <a:r>
              <a:rPr lang="en-US" sz="1400" b="1" dirty="0">
                <a:solidFill>
                  <a:srgbClr val="162447"/>
                </a:solidFill>
                <a:latin typeface="Calibri" pitchFamily="34" charset="0"/>
                <a:ea typeface="Calibri" pitchFamily="34" charset="-122"/>
                <a:cs typeface="Calibri" pitchFamily="34" charset="-120"/>
              </a:rPr>
              <a:t>Top Individual Reasons</a:t>
            </a:r>
            <a:endParaRPr lang="en-US" sz="1400" dirty="0"/>
          </a:p>
        </p:txBody>
      </p:sp>
      <p:sp>
        <p:nvSpPr>
          <p:cNvPr id="7" name="Text 4"/>
          <p:cNvSpPr/>
          <p:nvPr/>
        </p:nvSpPr>
        <p:spPr>
          <a:xfrm>
            <a:off x="6720840" y="2057400"/>
            <a:ext cx="3566160" cy="36576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Attitude of support person</a:t>
            </a:r>
            <a:endParaRPr lang="en-US" sz="1400" dirty="0"/>
          </a:p>
        </p:txBody>
      </p:sp>
      <p:sp>
        <p:nvSpPr>
          <p:cNvPr id="8" name="Text 5"/>
          <p:cNvSpPr/>
          <p:nvPr/>
        </p:nvSpPr>
        <p:spPr>
          <a:xfrm>
            <a:off x="10332720" y="2057400"/>
            <a:ext cx="1188720" cy="365760"/>
          </a:xfrm>
          <a:prstGeom prst="rect">
            <a:avLst/>
          </a:prstGeom>
          <a:noFill/>
          <a:ln/>
        </p:spPr>
        <p:txBody>
          <a:bodyPr wrap="square" rtlCol="0" anchor="ctr"/>
          <a:lstStyle/>
          <a:p>
            <a:pPr marL="0" indent="0" algn="r">
              <a:buNone/>
            </a:pPr>
            <a:r>
              <a:rPr lang="en-US" sz="1400" b="1" dirty="0">
                <a:solidFill>
                  <a:schemeClr val="tx2">
                    <a:lumMod val="50000"/>
                  </a:schemeClr>
                </a:solidFill>
                <a:latin typeface="Calibri" pitchFamily="34" charset="0"/>
                <a:ea typeface="Calibri" pitchFamily="34" charset="-122"/>
                <a:cs typeface="Calibri" pitchFamily="34" charset="-120"/>
              </a:rPr>
              <a:t>192</a:t>
            </a:r>
            <a:endParaRPr lang="en-US" sz="1400" dirty="0">
              <a:solidFill>
                <a:schemeClr val="tx2">
                  <a:lumMod val="50000"/>
                </a:schemeClr>
              </a:solidFill>
            </a:endParaRPr>
          </a:p>
        </p:txBody>
      </p:sp>
      <p:sp>
        <p:nvSpPr>
          <p:cNvPr id="9" name="Text 6"/>
          <p:cNvSpPr/>
          <p:nvPr/>
        </p:nvSpPr>
        <p:spPr>
          <a:xfrm>
            <a:off x="6720840" y="2514600"/>
            <a:ext cx="3566160" cy="36576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Competitor offered higher download speeds</a:t>
            </a:r>
            <a:endParaRPr lang="en-US" sz="1400" dirty="0"/>
          </a:p>
        </p:txBody>
      </p:sp>
      <p:sp>
        <p:nvSpPr>
          <p:cNvPr id="10" name="Text 7"/>
          <p:cNvSpPr/>
          <p:nvPr/>
        </p:nvSpPr>
        <p:spPr>
          <a:xfrm>
            <a:off x="10332720" y="2514600"/>
            <a:ext cx="1188720" cy="365760"/>
          </a:xfrm>
          <a:prstGeom prst="rect">
            <a:avLst/>
          </a:prstGeom>
          <a:noFill/>
          <a:ln/>
        </p:spPr>
        <p:txBody>
          <a:bodyPr wrap="square" rtlCol="0" anchor="ctr"/>
          <a:lstStyle/>
          <a:p>
            <a:pPr marL="0" indent="0" algn="r">
              <a:buNone/>
            </a:pPr>
            <a:r>
              <a:rPr lang="en-US" sz="1400" b="1" dirty="0">
                <a:solidFill>
                  <a:schemeClr val="tx2">
                    <a:lumMod val="50000"/>
                  </a:schemeClr>
                </a:solidFill>
                <a:latin typeface="Calibri" pitchFamily="34" charset="0"/>
                <a:ea typeface="Calibri" pitchFamily="34" charset="-122"/>
                <a:cs typeface="Calibri" pitchFamily="34" charset="-120"/>
              </a:rPr>
              <a:t>189</a:t>
            </a:r>
            <a:endParaRPr lang="en-US" sz="1400" dirty="0">
              <a:solidFill>
                <a:schemeClr val="tx2">
                  <a:lumMod val="50000"/>
                </a:schemeClr>
              </a:solidFill>
            </a:endParaRPr>
          </a:p>
        </p:txBody>
      </p:sp>
      <p:sp>
        <p:nvSpPr>
          <p:cNvPr id="11" name="Text 8"/>
          <p:cNvSpPr/>
          <p:nvPr/>
        </p:nvSpPr>
        <p:spPr>
          <a:xfrm>
            <a:off x="6720840" y="2971800"/>
            <a:ext cx="3566160" cy="36576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Competitor offered more data</a:t>
            </a:r>
            <a:endParaRPr lang="en-US" sz="1400" dirty="0"/>
          </a:p>
        </p:txBody>
      </p:sp>
      <p:sp>
        <p:nvSpPr>
          <p:cNvPr id="12" name="Text 9"/>
          <p:cNvSpPr/>
          <p:nvPr/>
        </p:nvSpPr>
        <p:spPr>
          <a:xfrm>
            <a:off x="10332720" y="2971800"/>
            <a:ext cx="1188720" cy="365760"/>
          </a:xfrm>
          <a:prstGeom prst="rect">
            <a:avLst/>
          </a:prstGeom>
          <a:noFill/>
          <a:ln/>
        </p:spPr>
        <p:txBody>
          <a:bodyPr wrap="square" rtlCol="0" anchor="ctr"/>
          <a:lstStyle/>
          <a:p>
            <a:pPr marL="0" indent="0" algn="r">
              <a:buNone/>
            </a:pPr>
            <a:r>
              <a:rPr lang="en-US" sz="1400" b="1" dirty="0">
                <a:solidFill>
                  <a:schemeClr val="tx2">
                    <a:lumMod val="50000"/>
                  </a:schemeClr>
                </a:solidFill>
                <a:latin typeface="Calibri" pitchFamily="34" charset="0"/>
                <a:ea typeface="Calibri" pitchFamily="34" charset="-122"/>
                <a:cs typeface="Calibri" pitchFamily="34" charset="-120"/>
              </a:rPr>
              <a:t>162</a:t>
            </a:r>
            <a:endParaRPr lang="en-US" sz="1400" dirty="0">
              <a:solidFill>
                <a:schemeClr val="tx2">
                  <a:lumMod val="50000"/>
                </a:schemeClr>
              </a:solidFill>
            </a:endParaRPr>
          </a:p>
        </p:txBody>
      </p:sp>
      <p:sp>
        <p:nvSpPr>
          <p:cNvPr id="13" name="Text 10"/>
          <p:cNvSpPr/>
          <p:nvPr/>
        </p:nvSpPr>
        <p:spPr>
          <a:xfrm>
            <a:off x="6720840" y="3429000"/>
            <a:ext cx="3566160" cy="365760"/>
          </a:xfrm>
          <a:prstGeom prst="rect">
            <a:avLst/>
          </a:prstGeom>
          <a:noFill/>
          <a:ln/>
        </p:spPr>
        <p:txBody>
          <a:bodyPr wrap="square" rtlCol="0" anchor="ctr"/>
          <a:lstStyle/>
          <a:p>
            <a:pPr marL="0" indent="0">
              <a:buNone/>
            </a:pPr>
            <a:r>
              <a:rPr lang="en-US" sz="1200" dirty="0">
                <a:solidFill>
                  <a:srgbClr val="1B2430"/>
                </a:solidFill>
                <a:latin typeface="Calibri" pitchFamily="34" charset="0"/>
                <a:cs typeface="Calibri" pitchFamily="34" charset="-120"/>
              </a:rPr>
              <a:t>Others</a:t>
            </a:r>
            <a:endParaRPr lang="en-US" sz="1200" dirty="0"/>
          </a:p>
        </p:txBody>
      </p:sp>
      <p:sp>
        <p:nvSpPr>
          <p:cNvPr id="14" name="Text 11"/>
          <p:cNvSpPr/>
          <p:nvPr/>
        </p:nvSpPr>
        <p:spPr>
          <a:xfrm>
            <a:off x="10332720" y="3429000"/>
            <a:ext cx="1188720" cy="365760"/>
          </a:xfrm>
          <a:prstGeom prst="rect">
            <a:avLst/>
          </a:prstGeom>
          <a:noFill/>
          <a:ln/>
        </p:spPr>
        <p:txBody>
          <a:bodyPr wrap="square" rtlCol="0" anchor="ctr"/>
          <a:lstStyle/>
          <a:p>
            <a:pPr marL="0" indent="0" algn="r">
              <a:buNone/>
            </a:pPr>
            <a:r>
              <a:rPr lang="en-US" sz="1400" b="1" dirty="0">
                <a:solidFill>
                  <a:schemeClr val="tx2">
                    <a:lumMod val="50000"/>
                  </a:schemeClr>
                </a:solidFill>
                <a:latin typeface="Calibri" pitchFamily="34" charset="0"/>
                <a:ea typeface="Calibri" pitchFamily="34" charset="-122"/>
                <a:cs typeface="Calibri" pitchFamily="34" charset="-120"/>
              </a:rPr>
              <a:t>154</a:t>
            </a:r>
            <a:endParaRPr lang="en-US" sz="1400" dirty="0">
              <a:solidFill>
                <a:schemeClr val="tx2">
                  <a:lumMod val="50000"/>
                </a:schemeClr>
              </a:solidFill>
            </a:endParaRPr>
          </a:p>
        </p:txBody>
      </p:sp>
      <p:sp>
        <p:nvSpPr>
          <p:cNvPr id="15" name="Text 12"/>
          <p:cNvSpPr/>
          <p:nvPr/>
        </p:nvSpPr>
        <p:spPr>
          <a:xfrm>
            <a:off x="6720840" y="3886200"/>
            <a:ext cx="3566160" cy="36576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Competitor made better offer</a:t>
            </a:r>
            <a:endParaRPr lang="en-US" sz="1400" dirty="0"/>
          </a:p>
        </p:txBody>
      </p:sp>
      <p:sp>
        <p:nvSpPr>
          <p:cNvPr id="16" name="Text 13"/>
          <p:cNvSpPr/>
          <p:nvPr/>
        </p:nvSpPr>
        <p:spPr>
          <a:xfrm>
            <a:off x="10332720" y="3886200"/>
            <a:ext cx="1188720" cy="365760"/>
          </a:xfrm>
          <a:prstGeom prst="rect">
            <a:avLst/>
          </a:prstGeom>
          <a:noFill/>
          <a:ln/>
        </p:spPr>
        <p:txBody>
          <a:bodyPr wrap="square" rtlCol="0" anchor="ctr"/>
          <a:lstStyle/>
          <a:p>
            <a:pPr marL="0" indent="0" algn="r">
              <a:buNone/>
            </a:pPr>
            <a:r>
              <a:rPr lang="en-US" sz="1400" b="1" dirty="0">
                <a:solidFill>
                  <a:schemeClr val="accent1">
                    <a:lumMod val="50000"/>
                  </a:schemeClr>
                </a:solidFill>
                <a:latin typeface="Calibri" pitchFamily="34" charset="0"/>
                <a:ea typeface="Calibri" pitchFamily="34" charset="-122"/>
                <a:cs typeface="Calibri" pitchFamily="34" charset="-120"/>
              </a:rPr>
              <a:t>140</a:t>
            </a:r>
            <a:endParaRPr lang="en-US" sz="1400" dirty="0">
              <a:solidFill>
                <a:schemeClr val="accent1">
                  <a:lumMod val="50000"/>
                </a:schemeClr>
              </a:solidFill>
            </a:endParaRPr>
          </a:p>
        </p:txBody>
      </p:sp>
      <p:sp>
        <p:nvSpPr>
          <p:cNvPr id="17" name="Text 14"/>
          <p:cNvSpPr/>
          <p:nvPr/>
        </p:nvSpPr>
        <p:spPr>
          <a:xfrm>
            <a:off x="6720840" y="4480560"/>
            <a:ext cx="4754880" cy="1810512"/>
          </a:xfrm>
          <a:prstGeom prst="rect">
            <a:avLst/>
          </a:prstGeom>
          <a:noFill/>
          <a:ln/>
        </p:spPr>
        <p:txBody>
          <a:bodyPr wrap="square" rtlCol="0" anchor="t"/>
          <a:lstStyle/>
          <a:p>
            <a:pPr marL="0" indent="0">
              <a:lnSpc>
                <a:spcPct val="150000"/>
              </a:lnSpc>
              <a:buNone/>
            </a:pPr>
            <a:r>
              <a:rPr lang="en-US" sz="1500" dirty="0">
                <a:solidFill>
                  <a:srgbClr val="1B2430"/>
                </a:solidFill>
                <a:latin typeface="Calibri" pitchFamily="34" charset="0"/>
                <a:ea typeface="Calibri" pitchFamily="34" charset="-122"/>
                <a:cs typeface="Calibri" pitchFamily="34" charset="-120"/>
              </a:rPr>
              <a:t>Service and support quality (37.9%) is the single largest driver of stated churn ahead of competitor offers (33.2%) and price (8.3%). This is a service problem more than a price problem.</a:t>
            </a:r>
            <a:endParaRPr lang="en-US" sz="1500" dirty="0"/>
          </a:p>
        </p:txBody>
      </p:sp>
      <p:sp>
        <p:nvSpPr>
          <p:cNvPr id="18" name="Text 15"/>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C6B7A"/>
                </a:solidFill>
                <a:latin typeface="Calibri" pitchFamily="34" charset="0"/>
                <a:ea typeface="Calibri" pitchFamily="34" charset="-122"/>
                <a:cs typeface="Calibri" pitchFamily="34" charset="-120"/>
              </a:rPr>
              <a:t>Customer Churn Analysis  |  Group 3</a:t>
            </a:r>
            <a:endParaRPr lang="en-US" sz="900" dirty="0"/>
          </a:p>
        </p:txBody>
      </p:sp>
      <p:sp>
        <p:nvSpPr>
          <p:cNvPr id="19"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9EEF5"/>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E15554"/>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566928"/>
            <a:ext cx="11064240" cy="594360"/>
          </a:xfrm>
          <a:prstGeom prst="rect">
            <a:avLst/>
          </a:prstGeom>
          <a:noFill/>
          <a:ln/>
        </p:spPr>
        <p:txBody>
          <a:bodyPr wrap="square" rtlCol="0" anchor="ctr"/>
          <a:lstStyle/>
          <a:p>
            <a:pPr marL="0" indent="0">
              <a:buNone/>
            </a:pPr>
            <a:r>
              <a:rPr lang="en-US" sz="2800" b="1" dirty="0">
                <a:solidFill>
                  <a:srgbClr val="162447"/>
                </a:solidFill>
                <a:latin typeface="Cambria" pitchFamily="34" charset="0"/>
                <a:ea typeface="Cambria" pitchFamily="34" charset="-122"/>
                <a:cs typeface="Cambria" pitchFamily="34" charset="-120"/>
              </a:rPr>
              <a:t>Three Moves That Matter Most</a:t>
            </a:r>
            <a:endParaRPr lang="en-US" sz="2800" dirty="0"/>
          </a:p>
        </p:txBody>
      </p:sp>
      <p:sp>
        <p:nvSpPr>
          <p:cNvPr id="4" name="Shape 2"/>
          <p:cNvSpPr/>
          <p:nvPr/>
        </p:nvSpPr>
        <p:spPr>
          <a:xfrm>
            <a:off x="548640" y="1600200"/>
            <a:ext cx="3520440" cy="3931920"/>
          </a:xfrm>
          <a:prstGeom prst="roundRect">
            <a:avLst>
              <a:gd name="adj" fmla="val 2078"/>
            </a:avLst>
          </a:prstGeom>
          <a:solidFill>
            <a:srgbClr val="FFFFFF"/>
          </a:solidFill>
          <a:ln w="12700">
            <a:solidFill>
              <a:srgbClr val="D7DEE7"/>
            </a:solidFill>
            <a:prstDash val="solid"/>
          </a:ln>
          <a:effectLst>
            <a:outerShdw blurRad="63500" dist="25400" dir="5400000" algn="bl" rotWithShape="0">
              <a:srgbClr val="9AA5B1">
                <a:alpha val="20000"/>
              </a:srgbClr>
            </a:outerShdw>
          </a:effectLst>
        </p:spPr>
        <p:txBody>
          <a:bodyPr/>
          <a:lstStyle/>
          <a:p>
            <a:endParaRPr lang="en-GB"/>
          </a:p>
        </p:txBody>
      </p:sp>
      <p:sp>
        <p:nvSpPr>
          <p:cNvPr id="5" name="Shape 3"/>
          <p:cNvSpPr/>
          <p:nvPr/>
        </p:nvSpPr>
        <p:spPr>
          <a:xfrm>
            <a:off x="1988820" y="1920240"/>
            <a:ext cx="640080" cy="640080"/>
          </a:xfrm>
          <a:prstGeom prst="ellipse">
            <a:avLst/>
          </a:prstGeom>
          <a:solidFill>
            <a:schemeClr val="accent1">
              <a:lumMod val="50000"/>
            </a:schemeClr>
          </a:solidFill>
          <a:ln/>
        </p:spPr>
        <p:txBody>
          <a:bodyPr/>
          <a:lstStyle/>
          <a:p>
            <a:endParaRPr lang="en-GB"/>
          </a:p>
        </p:txBody>
      </p:sp>
      <p:sp>
        <p:nvSpPr>
          <p:cNvPr id="6" name="Text 4"/>
          <p:cNvSpPr/>
          <p:nvPr/>
        </p:nvSpPr>
        <p:spPr>
          <a:xfrm>
            <a:off x="1988820" y="1920240"/>
            <a:ext cx="640080" cy="64008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77240" y="2743200"/>
            <a:ext cx="3063240" cy="685800"/>
          </a:xfrm>
          <a:prstGeom prst="rect">
            <a:avLst/>
          </a:prstGeom>
          <a:noFill/>
          <a:ln/>
        </p:spPr>
        <p:txBody>
          <a:bodyPr wrap="square" rtlCol="0" anchor="t"/>
          <a:lstStyle/>
          <a:p>
            <a:pPr marL="0" indent="0" algn="ctr">
              <a:buNone/>
            </a:pPr>
            <a:r>
              <a:rPr lang="en-US" sz="1550" b="1" dirty="0">
                <a:solidFill>
                  <a:srgbClr val="162447"/>
                </a:solidFill>
                <a:latin typeface="Calibri" pitchFamily="34" charset="0"/>
                <a:ea typeface="Calibri" pitchFamily="34" charset="-122"/>
                <a:cs typeface="Calibri" pitchFamily="34" charset="-120"/>
              </a:rPr>
              <a:t>Convert month-to-month customers</a:t>
            </a:r>
            <a:endParaRPr lang="en-US" sz="1550" dirty="0"/>
          </a:p>
        </p:txBody>
      </p:sp>
      <p:sp>
        <p:nvSpPr>
          <p:cNvPr id="8" name="Text 6"/>
          <p:cNvSpPr/>
          <p:nvPr/>
        </p:nvSpPr>
        <p:spPr>
          <a:xfrm>
            <a:off x="822960" y="3520440"/>
            <a:ext cx="2971800" cy="1737360"/>
          </a:xfrm>
          <a:prstGeom prst="rect">
            <a:avLst/>
          </a:prstGeom>
          <a:noFill/>
          <a:ln/>
        </p:spPr>
        <p:txBody>
          <a:bodyPr wrap="square" rtlCol="0" anchor="t"/>
          <a:lstStyle/>
          <a:p>
            <a:pPr marL="0" indent="0" algn="ctr">
              <a:lnSpc>
                <a:spcPct val="125000"/>
              </a:lnSpc>
              <a:buNone/>
            </a:pPr>
            <a:r>
              <a:rPr lang="en-US" sz="1600" dirty="0">
                <a:solidFill>
                  <a:schemeClr val="tx2">
                    <a:lumMod val="75000"/>
                  </a:schemeClr>
                </a:solidFill>
                <a:latin typeface="Calibri" pitchFamily="34" charset="0"/>
                <a:ea typeface="Calibri" pitchFamily="34" charset="-122"/>
                <a:cs typeface="Calibri" pitchFamily="34" charset="-120"/>
              </a:rPr>
              <a:t>Discounted annual/2-yr plans and loyalty perks to reduce the segment driving 88% of churn.</a:t>
            </a:r>
            <a:endParaRPr lang="en-US" sz="1600" dirty="0">
              <a:solidFill>
                <a:schemeClr val="tx2">
                  <a:lumMod val="75000"/>
                </a:schemeClr>
              </a:solidFill>
            </a:endParaRPr>
          </a:p>
        </p:txBody>
      </p:sp>
      <p:sp>
        <p:nvSpPr>
          <p:cNvPr id="9" name="Shape 7"/>
          <p:cNvSpPr/>
          <p:nvPr/>
        </p:nvSpPr>
        <p:spPr>
          <a:xfrm>
            <a:off x="4325112" y="1600200"/>
            <a:ext cx="3520440" cy="3931920"/>
          </a:xfrm>
          <a:prstGeom prst="roundRect">
            <a:avLst>
              <a:gd name="adj" fmla="val 2078"/>
            </a:avLst>
          </a:prstGeom>
          <a:solidFill>
            <a:srgbClr val="FFFFFF"/>
          </a:solidFill>
          <a:ln w="12700">
            <a:solidFill>
              <a:srgbClr val="D7DEE7"/>
            </a:solidFill>
            <a:prstDash val="solid"/>
          </a:ln>
          <a:effectLst>
            <a:outerShdw blurRad="63500" dist="25400" dir="5400000" algn="bl" rotWithShape="0">
              <a:srgbClr val="9AA5B1">
                <a:alpha val="20000"/>
              </a:srgbClr>
            </a:outerShdw>
          </a:effectLst>
        </p:spPr>
        <p:txBody>
          <a:bodyPr/>
          <a:lstStyle/>
          <a:p>
            <a:endParaRPr lang="en-GB"/>
          </a:p>
        </p:txBody>
      </p:sp>
      <p:sp>
        <p:nvSpPr>
          <p:cNvPr id="10" name="Shape 8"/>
          <p:cNvSpPr/>
          <p:nvPr/>
        </p:nvSpPr>
        <p:spPr>
          <a:xfrm>
            <a:off x="5765292" y="1920240"/>
            <a:ext cx="640080" cy="640080"/>
          </a:xfrm>
          <a:prstGeom prst="ellipse">
            <a:avLst/>
          </a:prstGeom>
          <a:solidFill>
            <a:schemeClr val="accent1">
              <a:lumMod val="50000"/>
            </a:schemeClr>
          </a:solidFill>
          <a:ln/>
        </p:spPr>
        <p:txBody>
          <a:bodyPr/>
          <a:lstStyle/>
          <a:p>
            <a:endParaRPr lang="en-GB"/>
          </a:p>
        </p:txBody>
      </p:sp>
      <p:sp>
        <p:nvSpPr>
          <p:cNvPr id="11" name="Text 9"/>
          <p:cNvSpPr/>
          <p:nvPr/>
        </p:nvSpPr>
        <p:spPr>
          <a:xfrm>
            <a:off x="5765292" y="1920240"/>
            <a:ext cx="640080" cy="64008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4553712" y="2743200"/>
            <a:ext cx="3063240" cy="685800"/>
          </a:xfrm>
          <a:prstGeom prst="rect">
            <a:avLst/>
          </a:prstGeom>
          <a:noFill/>
          <a:ln/>
        </p:spPr>
        <p:txBody>
          <a:bodyPr wrap="square" rtlCol="0" anchor="t"/>
          <a:lstStyle/>
          <a:p>
            <a:pPr marL="0" indent="0" algn="ctr">
              <a:buNone/>
            </a:pPr>
            <a:r>
              <a:rPr lang="en-US" sz="1550" b="1" dirty="0">
                <a:solidFill>
                  <a:srgbClr val="162447"/>
                </a:solidFill>
                <a:latin typeface="Calibri" pitchFamily="34" charset="0"/>
                <a:ea typeface="Calibri" pitchFamily="34" charset="-122"/>
                <a:cs typeface="Calibri" pitchFamily="34" charset="-120"/>
              </a:rPr>
              <a:t>Migrate customers to autopay</a:t>
            </a:r>
            <a:endParaRPr lang="en-US" sz="1550" dirty="0"/>
          </a:p>
        </p:txBody>
      </p:sp>
      <p:sp>
        <p:nvSpPr>
          <p:cNvPr id="13" name="Text 11"/>
          <p:cNvSpPr/>
          <p:nvPr/>
        </p:nvSpPr>
        <p:spPr>
          <a:xfrm>
            <a:off x="4599432" y="3520440"/>
            <a:ext cx="2971800" cy="2093282"/>
          </a:xfrm>
          <a:prstGeom prst="rect">
            <a:avLst/>
          </a:prstGeom>
          <a:noFill/>
          <a:ln/>
        </p:spPr>
        <p:txBody>
          <a:bodyPr wrap="square" rtlCol="0" anchor="t"/>
          <a:lstStyle/>
          <a:p>
            <a:pPr marL="0" indent="0" algn="ctr">
              <a:lnSpc>
                <a:spcPct val="125000"/>
              </a:lnSpc>
              <a:buNone/>
            </a:pPr>
            <a:r>
              <a:rPr lang="en-US" sz="1600" dirty="0">
                <a:solidFill>
                  <a:schemeClr val="tx2">
                    <a:lumMod val="75000"/>
                  </a:schemeClr>
                </a:solidFill>
                <a:latin typeface="Calibri" pitchFamily="34" charset="0"/>
                <a:ea typeface="Calibri" pitchFamily="34" charset="-122"/>
                <a:cs typeface="Calibri" pitchFamily="34" charset="-120"/>
              </a:rPr>
              <a:t>Incentivize bank transfer / credit card autopay to cut churn risk.</a:t>
            </a:r>
            <a:endParaRPr lang="en-US" sz="1600" dirty="0">
              <a:solidFill>
                <a:schemeClr val="tx2">
                  <a:lumMod val="75000"/>
                </a:schemeClr>
              </a:solidFill>
            </a:endParaRPr>
          </a:p>
        </p:txBody>
      </p:sp>
      <p:sp>
        <p:nvSpPr>
          <p:cNvPr id="14" name="Shape 12"/>
          <p:cNvSpPr/>
          <p:nvPr/>
        </p:nvSpPr>
        <p:spPr>
          <a:xfrm>
            <a:off x="8101584" y="1600200"/>
            <a:ext cx="3520440" cy="3931920"/>
          </a:xfrm>
          <a:prstGeom prst="roundRect">
            <a:avLst>
              <a:gd name="adj" fmla="val 2078"/>
            </a:avLst>
          </a:prstGeom>
          <a:solidFill>
            <a:srgbClr val="FFFFFF"/>
          </a:solidFill>
          <a:ln w="12700">
            <a:solidFill>
              <a:srgbClr val="D7DEE7"/>
            </a:solidFill>
            <a:prstDash val="solid"/>
          </a:ln>
          <a:effectLst>
            <a:outerShdw blurRad="63500" dist="25400" dir="5400000" algn="bl" rotWithShape="0">
              <a:srgbClr val="9AA5B1">
                <a:alpha val="20000"/>
              </a:srgbClr>
            </a:outerShdw>
          </a:effectLst>
        </p:spPr>
        <p:txBody>
          <a:bodyPr/>
          <a:lstStyle/>
          <a:p>
            <a:endParaRPr lang="en-GB"/>
          </a:p>
        </p:txBody>
      </p:sp>
      <p:sp>
        <p:nvSpPr>
          <p:cNvPr id="15" name="Shape 13"/>
          <p:cNvSpPr/>
          <p:nvPr/>
        </p:nvSpPr>
        <p:spPr>
          <a:xfrm>
            <a:off x="9541764" y="1920240"/>
            <a:ext cx="640080" cy="640080"/>
          </a:xfrm>
          <a:prstGeom prst="ellipse">
            <a:avLst/>
          </a:prstGeom>
          <a:solidFill>
            <a:schemeClr val="accent1">
              <a:lumMod val="50000"/>
            </a:schemeClr>
          </a:solidFill>
          <a:ln/>
        </p:spPr>
        <p:txBody>
          <a:bodyPr/>
          <a:lstStyle/>
          <a:p>
            <a:endParaRPr lang="en-GB"/>
          </a:p>
        </p:txBody>
      </p:sp>
      <p:sp>
        <p:nvSpPr>
          <p:cNvPr id="16" name="Text 14"/>
          <p:cNvSpPr/>
          <p:nvPr/>
        </p:nvSpPr>
        <p:spPr>
          <a:xfrm>
            <a:off x="9541764" y="1920240"/>
            <a:ext cx="640080" cy="64008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8330184" y="2743200"/>
            <a:ext cx="3063240" cy="685800"/>
          </a:xfrm>
          <a:prstGeom prst="rect">
            <a:avLst/>
          </a:prstGeom>
          <a:noFill/>
          <a:ln/>
        </p:spPr>
        <p:txBody>
          <a:bodyPr wrap="square" rtlCol="0" anchor="t"/>
          <a:lstStyle/>
          <a:p>
            <a:pPr marL="0" indent="0" algn="ctr">
              <a:buNone/>
            </a:pPr>
            <a:r>
              <a:rPr lang="en-US" sz="1550" b="1" dirty="0">
                <a:solidFill>
                  <a:srgbClr val="162447"/>
                </a:solidFill>
                <a:latin typeface="Calibri" pitchFamily="34" charset="0"/>
                <a:ea typeface="Calibri" pitchFamily="34" charset="-122"/>
                <a:cs typeface="Calibri" pitchFamily="34" charset="-120"/>
              </a:rPr>
              <a:t>Bundle protection services</a:t>
            </a:r>
            <a:endParaRPr lang="en-US" sz="1550" dirty="0"/>
          </a:p>
        </p:txBody>
      </p:sp>
      <p:sp>
        <p:nvSpPr>
          <p:cNvPr id="18" name="Text 16"/>
          <p:cNvSpPr/>
          <p:nvPr/>
        </p:nvSpPr>
        <p:spPr>
          <a:xfrm>
            <a:off x="8375904" y="3520440"/>
            <a:ext cx="2971800" cy="1737360"/>
          </a:xfrm>
          <a:prstGeom prst="rect">
            <a:avLst/>
          </a:prstGeom>
          <a:noFill/>
          <a:ln/>
        </p:spPr>
        <p:txBody>
          <a:bodyPr wrap="square" rtlCol="0" anchor="t"/>
          <a:lstStyle/>
          <a:p>
            <a:pPr marL="0" indent="0" algn="ctr">
              <a:lnSpc>
                <a:spcPct val="125000"/>
              </a:lnSpc>
              <a:buNone/>
            </a:pPr>
            <a:r>
              <a:rPr lang="en-US" sz="1600" dirty="0">
                <a:solidFill>
                  <a:schemeClr val="tx2">
                    <a:lumMod val="75000"/>
                  </a:schemeClr>
                </a:solidFill>
                <a:latin typeface="Calibri" pitchFamily="34" charset="0"/>
                <a:ea typeface="Calibri" pitchFamily="34" charset="-122"/>
                <a:cs typeface="Calibri" pitchFamily="34" charset="-120"/>
              </a:rPr>
              <a:t>Default Online Security, Tech Support and Backup into fiber plans to roughly halve churn risk.</a:t>
            </a:r>
            <a:endParaRPr lang="en-US" sz="1600" dirty="0">
              <a:solidFill>
                <a:schemeClr val="tx2">
                  <a:lumMod val="75000"/>
                </a:schemeClr>
              </a:solidFill>
            </a:endParaRPr>
          </a:p>
        </p:txBody>
      </p:sp>
      <p:sp>
        <p:nvSpPr>
          <p:cNvPr id="20" name="Text 18"/>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C6B7A"/>
                </a:solidFill>
                <a:latin typeface="Calibri" pitchFamily="34" charset="0"/>
                <a:ea typeface="Calibri" pitchFamily="34" charset="-122"/>
                <a:cs typeface="Calibri" pitchFamily="34" charset="-120"/>
              </a:rPr>
              <a:t>Customer Churn Analysis  |  Group 3</a:t>
            </a:r>
            <a:endParaRPr lang="en-US" sz="900" dirty="0"/>
          </a:p>
        </p:txBody>
      </p:sp>
      <p:sp>
        <p:nvSpPr>
          <p:cNvPr id="21" name="Text 19"/>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62447"/>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2E6E86">
              <a:alpha val="28000"/>
            </a:srgbClr>
          </a:solidFill>
          <a:ln/>
        </p:spPr>
        <p:txBody>
          <a:bodyPr/>
          <a:lstStyle/>
          <a:p>
            <a:endParaRPr lang="en-GB"/>
          </a:p>
        </p:txBody>
      </p:sp>
      <p:sp>
        <p:nvSpPr>
          <p:cNvPr id="3" name="Shape 1"/>
          <p:cNvSpPr/>
          <p:nvPr/>
        </p:nvSpPr>
        <p:spPr>
          <a:xfrm>
            <a:off x="10515600" y="4572000"/>
            <a:ext cx="3200400" cy="3200400"/>
          </a:xfrm>
          <a:prstGeom prst="ellipse">
            <a:avLst/>
          </a:prstGeom>
          <a:solidFill>
            <a:srgbClr val="E15554">
              <a:alpha val="32000"/>
            </a:srgbClr>
          </a:solidFill>
          <a:ln/>
        </p:spPr>
        <p:txBody>
          <a:bodyPr/>
          <a:lstStyle/>
          <a:p>
            <a:endParaRPr lang="en-GB"/>
          </a:p>
        </p:txBody>
      </p:sp>
      <p:sp>
        <p:nvSpPr>
          <p:cNvPr id="4" name="Text 2"/>
          <p:cNvSpPr/>
          <p:nvPr/>
        </p:nvSpPr>
        <p:spPr>
          <a:xfrm>
            <a:off x="731520" y="2651760"/>
            <a:ext cx="73152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731520" y="3429000"/>
            <a:ext cx="7315200" cy="457200"/>
          </a:xfrm>
          <a:prstGeom prst="rect">
            <a:avLst/>
          </a:prstGeom>
          <a:noFill/>
          <a:ln/>
        </p:spPr>
        <p:txBody>
          <a:bodyPr wrap="square" rtlCol="0" anchor="ctr"/>
          <a:lstStyle/>
          <a:p>
            <a:pPr marL="0" indent="0">
              <a:buNone/>
            </a:pPr>
            <a:r>
              <a:rPr lang="en-US" sz="1800" dirty="0">
                <a:solidFill>
                  <a:srgbClr val="3FA7A0"/>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731520" y="6035040"/>
            <a:ext cx="7315200" cy="365760"/>
          </a:xfrm>
          <a:prstGeom prst="rect">
            <a:avLst/>
          </a:prstGeom>
          <a:noFill/>
          <a:ln/>
        </p:spPr>
        <p:txBody>
          <a:bodyPr wrap="square" rtlCol="0" anchor="ctr"/>
          <a:lstStyle/>
          <a:p>
            <a:pPr marL="0" indent="0">
              <a:buNone/>
            </a:pPr>
            <a:r>
              <a:rPr lang="en-US" sz="1200" dirty="0">
                <a:solidFill>
                  <a:srgbClr val="E9EEF5"/>
                </a:solidFill>
                <a:latin typeface="Calibri" pitchFamily="34" charset="0"/>
                <a:ea typeface="Calibri" pitchFamily="34" charset="-122"/>
                <a:cs typeface="Calibri" pitchFamily="34" charset="-120"/>
              </a:rPr>
              <a:t>Group 3  |  Customer Churn Analysis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672</TotalTime>
  <Words>735</Words>
  <Application>Microsoft Office PowerPoint</Application>
  <PresentationFormat>Widescreen</PresentationFormat>
  <Paragraphs>132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lenovo</cp:lastModifiedBy>
  <cp:revision>10</cp:revision>
  <dcterms:created xsi:type="dcterms:W3CDTF">2026-07-28T19:18:21Z</dcterms:created>
  <dcterms:modified xsi:type="dcterms:W3CDTF">2026-08-03T21:57:52Z</dcterms:modified>
</cp:coreProperties>
</file>